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14"/>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  <Relationship Id="rId14" Type="http://schemas.openxmlformats.org/officeDocument/2006/relationships/slide" Target="slides/slide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548640" y="1371600"/>
            <a:ext cx="8046720" cy="1097280"/>
          </a:xfrm>
          <a:prstGeom prst="rect">
            <a:avLst/>
          </a:prstGeom>
          <a:noFill/>
          <a:ln/>
        </p:spPr>
        <p:txBody>
          <a:bodyPr wrap="square"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ParcelResolve</a:t>
            </a:r>
            <a:endParaRPr lang="en-US" sz="4400" dirty="0"/>
          </a:p>
        </p:txBody>
      </p:sp>
      <p:sp>
        <p:nvSpPr>
          <p:cNvPr id="4" name="Text 2"/>
          <p:cNvSpPr txBox="1"/>
          <p:nvPr/>
        </p:nvSpPr>
        <p:spPr>
          <a:xfrm>
            <a:off x="548640" y="2514600"/>
            <a:ext cx="8046720" cy="457200"/>
          </a:xfrm>
          <a:prstGeom prst="rect">
            <a:avLst/>
          </a:prstGeom>
          <a:noFill/>
          <a:ln/>
        </p:spPr>
        <p:txBody>
          <a:bodyPr wrap="square" rtlCol="0" anchor="ctr"/>
          <a:lstStyle/>
          <a:p>
            <a:pPr algn="l" indent="0" marL="0">
              <a:buNone/>
            </a:pPr>
            <a:r>
              <a:rPr lang="en-US" sz="1800" dirty="0">
                <a:solidFill>
                  <a:srgbClr val="A8C4E0"/>
                </a:solidFill>
                <a:latin typeface="Calibri" pitchFamily="34" charset="0"/>
                <a:ea typeface="Calibri" pitchFamily="34" charset="-122"/>
                <a:cs typeface="Calibri" pitchFamily="34" charset="-120"/>
              </a:rPr>
              <a:t>Requirements Engineering — Assignment 2</a:t>
            </a:r>
            <a:endParaRPr lang="en-US" sz="1800" dirty="0"/>
          </a:p>
        </p:txBody>
      </p:sp>
      <p:sp>
        <p:nvSpPr>
          <p:cNvPr id="5" name="Text 3"/>
          <p:cNvSpPr txBox="1"/>
          <p:nvPr/>
        </p:nvSpPr>
        <p:spPr>
          <a:xfrm>
            <a:off x="548640" y="3017520"/>
            <a:ext cx="8046720" cy="411480"/>
          </a:xfrm>
          <a:prstGeom prst="rect">
            <a:avLst/>
          </a:prstGeom>
          <a:noFill/>
          <a:ln/>
        </p:spPr>
        <p:txBody>
          <a:bodyPr wrap="square" rtlCol="0" anchor="ctr"/>
          <a:lstStyle/>
          <a:p>
            <a:pPr algn="l" indent="0" marL="0">
              <a:buNone/>
            </a:pPr>
            <a:r>
              <a:rPr lang="en-US" sz="1400" dirty="0">
                <a:solidFill>
                  <a:srgbClr val="D0DCE8"/>
                </a:solidFill>
                <a:latin typeface="Calibri" pitchFamily="34" charset="0"/>
                <a:ea typeface="Calibri" pitchFamily="34" charset="-122"/>
                <a:cs typeface="Calibri" pitchFamily="34" charset="-120"/>
              </a:rPr>
              <a:t>Product Vision · Scope · Stakeholder Analysis</a:t>
            </a:r>
            <a:endParaRPr lang="en-US" sz="1400" dirty="0"/>
          </a:p>
        </p:txBody>
      </p:sp>
      <p:sp>
        <p:nvSpPr>
          <p:cNvPr id="6" name="Text 4"/>
          <p:cNvSpPr txBox="1"/>
          <p:nvPr/>
        </p:nvSpPr>
        <p:spPr>
          <a:xfrm>
            <a:off x="548640" y="4206240"/>
            <a:ext cx="8046720" cy="320040"/>
          </a:xfrm>
          <a:prstGeom prst="rect">
            <a:avLst/>
          </a:prstGeom>
          <a:noFill/>
          <a:ln/>
        </p:spPr>
        <p:txBody>
          <a:bodyPr wrap="square" rtlCol="0" anchor="ctr"/>
          <a:lstStyle/>
          <a:p>
            <a:pPr algn="l" indent="0" marL="0">
              <a:buNone/>
            </a:pPr>
            <a:r>
              <a:rPr lang="en-US" sz="1300" dirty="0">
                <a:solidFill>
                  <a:srgbClr val="A8C4E0"/>
                </a:solidFill>
                <a:latin typeface="Calibri" pitchFamily="34" charset="0"/>
                <a:ea typeface="Calibri" pitchFamily="34" charset="-122"/>
                <a:cs typeface="Calibri" pitchFamily="34" charset="-120"/>
              </a:rPr>
              <a:t>Group: Varun &amp; Thanh</a:t>
            </a:r>
            <a:endParaRPr lang="en-US" sz="1300" dirty="0"/>
          </a:p>
        </p:txBody>
      </p:sp>
      <p:sp>
        <p:nvSpPr>
          <p:cNvPr id="7" name="Shape 5"/>
          <p:cNvSpPr/>
          <p:nvPr/>
        </p:nvSpPr>
        <p:spPr>
          <a:xfrm>
            <a:off x="0" y="5052060"/>
            <a:ext cx="9144000" cy="91440"/>
          </a:xfrm>
          <a:prstGeom prst="rect">
            <a:avLst/>
          </a:prstGeom>
          <a:solidFill>
            <a:srgbClr val="F0A5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The Problem</a:t>
            </a:r>
            <a:endParaRPr lang="en-US" sz="2600" dirty="0"/>
          </a:p>
        </p:txBody>
      </p:sp>
      <p:sp>
        <p:nvSpPr>
          <p:cNvPr id="4" name="Shape 2"/>
          <p:cNvSpPr/>
          <p:nvPr/>
        </p:nvSpPr>
        <p:spPr>
          <a:xfrm>
            <a:off x="457200" y="804672"/>
            <a:ext cx="8229600" cy="36576"/>
          </a:xfrm>
          <a:prstGeom prst="rect">
            <a:avLst/>
          </a:prstGeom>
          <a:solidFill>
            <a:srgbClr val="D0DCE8"/>
          </a:solidFill>
          <a:ln/>
        </p:spPr>
      </p:sp>
      <p:sp>
        <p:nvSpPr>
          <p:cNvPr id="5" name="Shape 3"/>
          <p:cNvSpPr/>
          <p:nvPr/>
        </p:nvSpPr>
        <p:spPr>
          <a:xfrm>
            <a:off x="914400" y="960120"/>
            <a:ext cx="7315200" cy="594360"/>
          </a:xfrm>
          <a:prstGeom prst="rect">
            <a:avLst/>
          </a:prstGeom>
          <a:solidFill>
            <a:srgbClr val="F4F7FB"/>
          </a:solidFill>
          <a:ln w="12700">
            <a:solidFill>
              <a:srgbClr val="2E6DA4"/>
            </a:solidFill>
            <a:prstDash val="solid"/>
          </a:ln>
        </p:spPr>
      </p:sp>
      <p:sp>
        <p:nvSpPr>
          <p:cNvPr id="6" name="Text 4"/>
          <p:cNvSpPr txBox="1"/>
          <p:nvPr/>
        </p:nvSpPr>
        <p:spPr>
          <a:xfrm>
            <a:off x="1005840" y="978408"/>
            <a:ext cx="7132320" cy="548640"/>
          </a:xfrm>
          <a:prstGeom prst="rect">
            <a:avLst/>
          </a:prstGeom>
          <a:noFill/>
          <a:ln/>
        </p:spPr>
        <p:txBody>
          <a:bodyPr wrap="square" lIns="0" tIns="0" rIns="0" bIns="0" rtlCol="0" anchor="ctr"/>
          <a:lstStyle/>
          <a:p>
            <a:pPr algn="ctr" indent="0" marL="0">
              <a:buNone/>
            </a:pPr>
            <a:r>
              <a:rPr lang="en-US" sz="1150" i="1" dirty="0">
                <a:solidFill>
                  <a:srgbClr val="1A3A5C"/>
                </a:solidFill>
                <a:latin typeface="Calibri" pitchFamily="34" charset="0"/>
                <a:ea typeface="Calibri" pitchFamily="34" charset="-122"/>
                <a:cs typeface="Calibri" pitchFamily="34" charset="-120"/>
              </a:rPr>
              <a:t>How does a delivery organization get from "something went wrong" to "incident properly resolved" — fast, consistently, without manual coordination at every step?</a:t>
            </a:r>
            <a:endParaRPr lang="en-US" sz="1150" dirty="0"/>
          </a:p>
        </p:txBody>
      </p:sp>
      <p:sp>
        <p:nvSpPr>
          <p:cNvPr id="7" name="Shape 5"/>
          <p:cNvSpPr/>
          <p:nvPr/>
        </p:nvSpPr>
        <p:spPr>
          <a:xfrm>
            <a:off x="457200" y="1755648"/>
            <a:ext cx="4023360" cy="548640"/>
          </a:xfrm>
          <a:prstGeom prst="rect">
            <a:avLst/>
          </a:prstGeom>
          <a:solidFill>
            <a:srgbClr val="F4F7FB"/>
          </a:solidFill>
          <a:ln w="12700">
            <a:solidFill>
              <a:srgbClr val="D0DCE8"/>
            </a:solidFill>
            <a:prstDash val="solid"/>
          </a:ln>
        </p:spPr>
      </p:sp>
      <p:sp>
        <p:nvSpPr>
          <p:cNvPr id="8" name="Shape 6"/>
          <p:cNvSpPr/>
          <p:nvPr/>
        </p:nvSpPr>
        <p:spPr>
          <a:xfrm>
            <a:off x="566928" y="1956816"/>
            <a:ext cx="146304" cy="146304"/>
          </a:xfrm>
          <a:prstGeom prst="ellipse">
            <a:avLst/>
          </a:prstGeom>
          <a:solidFill>
            <a:srgbClr val="F0A500"/>
          </a:solidFill>
          <a:ln/>
        </p:spPr>
      </p:sp>
      <p:sp>
        <p:nvSpPr>
          <p:cNvPr id="9" name="Text 7"/>
          <p:cNvSpPr txBox="1"/>
          <p:nvPr/>
        </p:nvSpPr>
        <p:spPr>
          <a:xfrm>
            <a:off x="786384" y="1847088"/>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Incidents take longer than they should</a:t>
            </a:r>
            <a:endParaRPr lang="en-US" sz="1100" dirty="0"/>
          </a:p>
        </p:txBody>
      </p:sp>
      <p:sp>
        <p:nvSpPr>
          <p:cNvPr id="10" name="Shape 8"/>
          <p:cNvSpPr/>
          <p:nvPr/>
        </p:nvSpPr>
        <p:spPr>
          <a:xfrm>
            <a:off x="4846320" y="1755648"/>
            <a:ext cx="4023360" cy="548640"/>
          </a:xfrm>
          <a:prstGeom prst="rect">
            <a:avLst/>
          </a:prstGeom>
          <a:solidFill>
            <a:srgbClr val="F4F7FB"/>
          </a:solidFill>
          <a:ln w="12700">
            <a:solidFill>
              <a:srgbClr val="D0DCE8"/>
            </a:solidFill>
            <a:prstDash val="solid"/>
          </a:ln>
        </p:spPr>
      </p:sp>
      <p:sp>
        <p:nvSpPr>
          <p:cNvPr id="11" name="Shape 9"/>
          <p:cNvSpPr/>
          <p:nvPr/>
        </p:nvSpPr>
        <p:spPr>
          <a:xfrm>
            <a:off x="4956048" y="1956816"/>
            <a:ext cx="146304" cy="146304"/>
          </a:xfrm>
          <a:prstGeom prst="ellipse">
            <a:avLst/>
          </a:prstGeom>
          <a:solidFill>
            <a:srgbClr val="F0A500"/>
          </a:solidFill>
          <a:ln/>
        </p:spPr>
      </p:sp>
      <p:sp>
        <p:nvSpPr>
          <p:cNvPr id="12" name="Text 10"/>
          <p:cNvSpPr txBox="1"/>
          <p:nvPr/>
        </p:nvSpPr>
        <p:spPr>
          <a:xfrm>
            <a:off x="5175504" y="1847088"/>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Customers asked for same info repeatedly</a:t>
            </a:r>
            <a:endParaRPr lang="en-US" sz="1100" dirty="0"/>
          </a:p>
        </p:txBody>
      </p:sp>
      <p:sp>
        <p:nvSpPr>
          <p:cNvPr id="13" name="Shape 11"/>
          <p:cNvSpPr/>
          <p:nvPr/>
        </p:nvSpPr>
        <p:spPr>
          <a:xfrm>
            <a:off x="457200" y="2423160"/>
            <a:ext cx="4023360" cy="548640"/>
          </a:xfrm>
          <a:prstGeom prst="rect">
            <a:avLst/>
          </a:prstGeom>
          <a:solidFill>
            <a:srgbClr val="F4F7FB"/>
          </a:solidFill>
          <a:ln w="12700">
            <a:solidFill>
              <a:srgbClr val="D0DCE8"/>
            </a:solidFill>
            <a:prstDash val="solid"/>
          </a:ln>
        </p:spPr>
      </p:sp>
      <p:sp>
        <p:nvSpPr>
          <p:cNvPr id="14" name="Shape 12"/>
          <p:cNvSpPr/>
          <p:nvPr/>
        </p:nvSpPr>
        <p:spPr>
          <a:xfrm>
            <a:off x="566928" y="2624328"/>
            <a:ext cx="146304" cy="146304"/>
          </a:xfrm>
          <a:prstGeom prst="ellipse">
            <a:avLst/>
          </a:prstGeom>
          <a:solidFill>
            <a:srgbClr val="F0A500"/>
          </a:solidFill>
          <a:ln/>
        </p:spPr>
      </p:sp>
      <p:sp>
        <p:nvSpPr>
          <p:cNvPr id="15" name="Text 13"/>
          <p:cNvSpPr txBox="1"/>
          <p:nvPr/>
        </p:nvSpPr>
        <p:spPr>
          <a:xfrm>
            <a:off x="786384" y="2514600"/>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Unclear who owns the next action</a:t>
            </a:r>
            <a:endParaRPr lang="en-US" sz="1100" dirty="0"/>
          </a:p>
        </p:txBody>
      </p:sp>
      <p:sp>
        <p:nvSpPr>
          <p:cNvPr id="16" name="Shape 14"/>
          <p:cNvSpPr/>
          <p:nvPr/>
        </p:nvSpPr>
        <p:spPr>
          <a:xfrm>
            <a:off x="4846320" y="2423160"/>
            <a:ext cx="4023360" cy="548640"/>
          </a:xfrm>
          <a:prstGeom prst="rect">
            <a:avLst/>
          </a:prstGeom>
          <a:solidFill>
            <a:srgbClr val="F4F7FB"/>
          </a:solidFill>
          <a:ln w="12700">
            <a:solidFill>
              <a:srgbClr val="D0DCE8"/>
            </a:solidFill>
            <a:prstDash val="solid"/>
          </a:ln>
        </p:spPr>
      </p:sp>
      <p:sp>
        <p:nvSpPr>
          <p:cNvPr id="17" name="Shape 15"/>
          <p:cNvSpPr/>
          <p:nvPr/>
        </p:nvSpPr>
        <p:spPr>
          <a:xfrm>
            <a:off x="4956048" y="2624328"/>
            <a:ext cx="146304" cy="146304"/>
          </a:xfrm>
          <a:prstGeom prst="ellipse">
            <a:avLst/>
          </a:prstGeom>
          <a:solidFill>
            <a:srgbClr val="F0A500"/>
          </a:solidFill>
          <a:ln/>
        </p:spPr>
      </p:sp>
      <p:sp>
        <p:nvSpPr>
          <p:cNvPr id="18" name="Text 16"/>
          <p:cNvSpPr txBox="1"/>
          <p:nvPr/>
        </p:nvSpPr>
        <p:spPr>
          <a:xfrm>
            <a:off x="5175504" y="2514600"/>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Follow-ups missed or delayed</a:t>
            </a:r>
            <a:endParaRPr lang="en-US" sz="1100" dirty="0"/>
          </a:p>
        </p:txBody>
      </p:sp>
      <p:sp>
        <p:nvSpPr>
          <p:cNvPr id="19" name="Shape 17"/>
          <p:cNvSpPr/>
          <p:nvPr/>
        </p:nvSpPr>
        <p:spPr>
          <a:xfrm>
            <a:off x="457200" y="3090672"/>
            <a:ext cx="4023360" cy="548640"/>
          </a:xfrm>
          <a:prstGeom prst="rect">
            <a:avLst/>
          </a:prstGeom>
          <a:solidFill>
            <a:srgbClr val="F4F7FB"/>
          </a:solidFill>
          <a:ln w="12700">
            <a:solidFill>
              <a:srgbClr val="D0DCE8"/>
            </a:solidFill>
            <a:prstDash val="solid"/>
          </a:ln>
        </p:spPr>
      </p:sp>
      <p:sp>
        <p:nvSpPr>
          <p:cNvPr id="20" name="Shape 18"/>
          <p:cNvSpPr/>
          <p:nvPr/>
        </p:nvSpPr>
        <p:spPr>
          <a:xfrm>
            <a:off x="566928" y="3291840"/>
            <a:ext cx="146304" cy="146304"/>
          </a:xfrm>
          <a:prstGeom prst="ellipse">
            <a:avLst/>
          </a:prstGeom>
          <a:solidFill>
            <a:srgbClr val="F0A500"/>
          </a:solidFill>
          <a:ln/>
        </p:spPr>
      </p:sp>
      <p:sp>
        <p:nvSpPr>
          <p:cNvPr id="21" name="Text 19"/>
          <p:cNvSpPr txBox="1"/>
          <p:nvPr/>
        </p:nvSpPr>
        <p:spPr>
          <a:xfrm>
            <a:off x="786384" y="3182112"/>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Inconsistent case handling across teams</a:t>
            </a:r>
            <a:endParaRPr lang="en-US" sz="1100" dirty="0"/>
          </a:p>
        </p:txBody>
      </p:sp>
      <p:sp>
        <p:nvSpPr>
          <p:cNvPr id="22" name="Shape 20"/>
          <p:cNvSpPr/>
          <p:nvPr/>
        </p:nvSpPr>
        <p:spPr>
          <a:xfrm>
            <a:off x="4846320" y="3090672"/>
            <a:ext cx="4023360" cy="548640"/>
          </a:xfrm>
          <a:prstGeom prst="rect">
            <a:avLst/>
          </a:prstGeom>
          <a:solidFill>
            <a:srgbClr val="F4F7FB"/>
          </a:solidFill>
          <a:ln w="12700">
            <a:solidFill>
              <a:srgbClr val="D0DCE8"/>
            </a:solidFill>
            <a:prstDash val="solid"/>
          </a:ln>
        </p:spPr>
      </p:sp>
      <p:sp>
        <p:nvSpPr>
          <p:cNvPr id="23" name="Shape 21"/>
          <p:cNvSpPr/>
          <p:nvPr/>
        </p:nvSpPr>
        <p:spPr>
          <a:xfrm>
            <a:off x="4956048" y="3291840"/>
            <a:ext cx="146304" cy="146304"/>
          </a:xfrm>
          <a:prstGeom prst="ellipse">
            <a:avLst/>
          </a:prstGeom>
          <a:solidFill>
            <a:srgbClr val="F0A500"/>
          </a:solidFill>
          <a:ln/>
        </p:spPr>
      </p:sp>
      <p:sp>
        <p:nvSpPr>
          <p:cNvPr id="24" name="Text 22"/>
          <p:cNvSpPr txBox="1"/>
          <p:nvPr/>
        </p:nvSpPr>
        <p:spPr>
          <a:xfrm>
            <a:off x="5175504" y="3182112"/>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No real-time view of open incidents</a:t>
            </a:r>
            <a:endParaRPr lang="en-US" sz="1100" dirty="0"/>
          </a:p>
        </p:txBody>
      </p:sp>
      <p:sp>
        <p:nvSpPr>
          <p:cNvPr id="25" name="Shape 23"/>
          <p:cNvSpPr/>
          <p:nvPr/>
        </p:nvSpPr>
        <p:spPr>
          <a:xfrm>
            <a:off x="457200" y="3758184"/>
            <a:ext cx="4023360" cy="548640"/>
          </a:xfrm>
          <a:prstGeom prst="rect">
            <a:avLst/>
          </a:prstGeom>
          <a:solidFill>
            <a:srgbClr val="F4F7FB"/>
          </a:solidFill>
          <a:ln w="12700">
            <a:solidFill>
              <a:srgbClr val="D0DCE8"/>
            </a:solidFill>
            <a:prstDash val="solid"/>
          </a:ln>
        </p:spPr>
      </p:sp>
      <p:sp>
        <p:nvSpPr>
          <p:cNvPr id="26" name="Shape 24"/>
          <p:cNvSpPr/>
          <p:nvPr/>
        </p:nvSpPr>
        <p:spPr>
          <a:xfrm>
            <a:off x="566928" y="3959352"/>
            <a:ext cx="146304" cy="146304"/>
          </a:xfrm>
          <a:prstGeom prst="ellipse">
            <a:avLst/>
          </a:prstGeom>
          <a:solidFill>
            <a:srgbClr val="F0A500"/>
          </a:solidFill>
          <a:ln/>
        </p:spPr>
      </p:sp>
      <p:sp>
        <p:nvSpPr>
          <p:cNvPr id="27" name="Text 25"/>
          <p:cNvSpPr txBox="1"/>
          <p:nvPr/>
        </p:nvSpPr>
        <p:spPr>
          <a:xfrm>
            <a:off x="786384" y="3849624"/>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Rising manual coordination costs</a:t>
            </a:r>
            <a:endParaRPr lang="en-US" sz="1100" dirty="0"/>
          </a:p>
        </p:txBody>
      </p:sp>
      <p:sp>
        <p:nvSpPr>
          <p:cNvPr id="28" name="Shape 26"/>
          <p:cNvSpPr/>
          <p:nvPr/>
        </p:nvSpPr>
        <p:spPr>
          <a:xfrm>
            <a:off x="4846320" y="3758184"/>
            <a:ext cx="4023360" cy="548640"/>
          </a:xfrm>
          <a:prstGeom prst="rect">
            <a:avLst/>
          </a:prstGeom>
          <a:solidFill>
            <a:srgbClr val="F4F7FB"/>
          </a:solidFill>
          <a:ln w="12700">
            <a:solidFill>
              <a:srgbClr val="D0DCE8"/>
            </a:solidFill>
            <a:prstDash val="solid"/>
          </a:ln>
        </p:spPr>
      </p:sp>
      <p:sp>
        <p:nvSpPr>
          <p:cNvPr id="29" name="Shape 27"/>
          <p:cNvSpPr/>
          <p:nvPr/>
        </p:nvSpPr>
        <p:spPr>
          <a:xfrm>
            <a:off x="4956048" y="3959352"/>
            <a:ext cx="146304" cy="146304"/>
          </a:xfrm>
          <a:prstGeom prst="ellipse">
            <a:avLst/>
          </a:prstGeom>
          <a:solidFill>
            <a:srgbClr val="F0A500"/>
          </a:solidFill>
          <a:ln/>
        </p:spPr>
      </p:sp>
      <p:sp>
        <p:nvSpPr>
          <p:cNvPr id="30" name="Text 28"/>
          <p:cNvSpPr txBox="1"/>
          <p:nvPr/>
        </p:nvSpPr>
        <p:spPr>
          <a:xfrm>
            <a:off x="5175504" y="3849624"/>
            <a:ext cx="3611880" cy="38404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Customers left with slow communication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Product Vision</a:t>
            </a:r>
            <a:endParaRPr lang="en-US" sz="2600" dirty="0"/>
          </a:p>
        </p:txBody>
      </p:sp>
      <p:sp>
        <p:nvSpPr>
          <p:cNvPr id="4" name="Shape 2"/>
          <p:cNvSpPr/>
          <p:nvPr/>
        </p:nvSpPr>
        <p:spPr>
          <a:xfrm>
            <a:off x="457200" y="804672"/>
            <a:ext cx="8229600" cy="36576"/>
          </a:xfrm>
          <a:prstGeom prst="rect">
            <a:avLst/>
          </a:prstGeom>
          <a:solidFill>
            <a:srgbClr val="D0DCE8"/>
          </a:solidFill>
          <a:ln/>
        </p:spPr>
      </p:sp>
      <p:sp>
        <p:nvSpPr>
          <p:cNvPr id="5" name="Shape 3"/>
          <p:cNvSpPr/>
          <p:nvPr/>
        </p:nvSpPr>
        <p:spPr>
          <a:xfrm>
            <a:off x="457200" y="960120"/>
            <a:ext cx="8229600" cy="822960"/>
          </a:xfrm>
          <a:prstGeom prst="rect">
            <a:avLst/>
          </a:prstGeom>
          <a:solidFill>
            <a:srgbClr val="1A3A5C"/>
          </a:solidFill>
          <a:ln/>
        </p:spPr>
      </p:sp>
      <p:sp>
        <p:nvSpPr>
          <p:cNvPr id="6" name="Text 4"/>
          <p:cNvSpPr txBox="1"/>
          <p:nvPr/>
        </p:nvSpPr>
        <p:spPr>
          <a:xfrm>
            <a:off x="594360" y="1005840"/>
            <a:ext cx="7955280" cy="731520"/>
          </a:xfrm>
          <a:prstGeom prst="rect">
            <a:avLst/>
          </a:prstGeom>
          <a:noFill/>
          <a:ln/>
        </p:spPr>
        <p:txBody>
          <a:bodyPr wrap="square" lIns="0" tIns="0" rIns="0" bIns="0"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"ParcelResolve aims to be a reliable incident-resolution platform that helps large e-commerce and delivery organizations catch parcel problems early, coordinate the right response, and close incidents properly — with as little unnecessary manual effort as possible."</a:t>
            </a:r>
            <a:endParaRPr lang="en-US" sz="1200" dirty="0"/>
          </a:p>
        </p:txBody>
      </p:sp>
      <p:sp>
        <p:nvSpPr>
          <p:cNvPr id="7" name="Text 5"/>
          <p:cNvSpPr txBox="1"/>
          <p:nvPr/>
        </p:nvSpPr>
        <p:spPr>
          <a:xfrm>
            <a:off x="457200" y="1920240"/>
            <a:ext cx="2743200" cy="320040"/>
          </a:xfrm>
          <a:prstGeom prst="rect">
            <a:avLst/>
          </a:prstGeom>
          <a:noFill/>
          <a:ln/>
        </p:spPr>
        <p:txBody>
          <a:bodyPr wrap="square" lIns="0" tIns="0" rIns="0" bIns="0" rtlCol="0" anchor="ctr"/>
          <a:lstStyle/>
          <a:p>
            <a:pPr indent="0" marL="0">
              <a:buNone/>
            </a:pPr>
            <a:r>
              <a:rPr lang="en-US" sz="1300" b="1" dirty="0">
                <a:solidFill>
                  <a:srgbClr val="1A3A5C"/>
                </a:solidFill>
                <a:latin typeface="Calibri" pitchFamily="34" charset="0"/>
                <a:ea typeface="Calibri" pitchFamily="34" charset="-122"/>
                <a:cs typeface="Calibri" pitchFamily="34" charset="-120"/>
              </a:rPr>
              <a:t>Main Goals</a:t>
            </a:r>
            <a:endParaRPr lang="en-US" sz="1300" dirty="0"/>
          </a:p>
        </p:txBody>
      </p:sp>
      <p:sp>
        <p:nvSpPr>
          <p:cNvPr id="8" name="Shape 6"/>
          <p:cNvSpPr/>
          <p:nvPr/>
        </p:nvSpPr>
        <p:spPr>
          <a:xfrm>
            <a:off x="457200" y="2249424"/>
            <a:ext cx="4023360" cy="384048"/>
          </a:xfrm>
          <a:prstGeom prst="rect">
            <a:avLst/>
          </a:prstGeom>
          <a:solidFill>
            <a:srgbClr val="F4F7FB"/>
          </a:solidFill>
          <a:ln w="12700">
            <a:solidFill>
              <a:srgbClr val="D0DCE8"/>
            </a:solidFill>
            <a:prstDash val="solid"/>
          </a:ln>
        </p:spPr>
      </p:sp>
      <p:sp>
        <p:nvSpPr>
          <p:cNvPr id="9" name="Shape 7"/>
          <p:cNvSpPr/>
          <p:nvPr/>
        </p:nvSpPr>
        <p:spPr>
          <a:xfrm>
            <a:off x="530352" y="2304288"/>
            <a:ext cx="274320" cy="256032"/>
          </a:xfrm>
          <a:prstGeom prst="rect">
            <a:avLst/>
          </a:prstGeom>
          <a:solidFill>
            <a:srgbClr val="2E6DA4"/>
          </a:solidFill>
          <a:ln/>
        </p:spPr>
      </p:sp>
      <p:sp>
        <p:nvSpPr>
          <p:cNvPr id="10" name="Text 8"/>
          <p:cNvSpPr txBox="1"/>
          <p:nvPr/>
        </p:nvSpPr>
        <p:spPr>
          <a:xfrm>
            <a:off x="530352" y="2304288"/>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859536" y="2267712"/>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Take in incidents from supported sources</a:t>
            </a:r>
            <a:endParaRPr lang="en-US" sz="1050" dirty="0"/>
          </a:p>
        </p:txBody>
      </p:sp>
      <p:sp>
        <p:nvSpPr>
          <p:cNvPr id="12" name="Shape 10"/>
          <p:cNvSpPr/>
          <p:nvPr/>
        </p:nvSpPr>
        <p:spPr>
          <a:xfrm>
            <a:off x="4800600" y="2249424"/>
            <a:ext cx="4023360" cy="384048"/>
          </a:xfrm>
          <a:prstGeom prst="rect">
            <a:avLst/>
          </a:prstGeom>
          <a:solidFill>
            <a:srgbClr val="F4F7FB"/>
          </a:solidFill>
          <a:ln w="12700">
            <a:solidFill>
              <a:srgbClr val="D0DCE8"/>
            </a:solidFill>
            <a:prstDash val="solid"/>
          </a:ln>
        </p:spPr>
      </p:sp>
      <p:sp>
        <p:nvSpPr>
          <p:cNvPr id="13" name="Shape 11"/>
          <p:cNvSpPr/>
          <p:nvPr/>
        </p:nvSpPr>
        <p:spPr>
          <a:xfrm>
            <a:off x="4873752" y="2304288"/>
            <a:ext cx="274320" cy="256032"/>
          </a:xfrm>
          <a:prstGeom prst="rect">
            <a:avLst/>
          </a:prstGeom>
          <a:solidFill>
            <a:srgbClr val="2E6DA4"/>
          </a:solidFill>
          <a:ln/>
        </p:spPr>
      </p:sp>
      <p:sp>
        <p:nvSpPr>
          <p:cNvPr id="14" name="Text 12"/>
          <p:cNvSpPr txBox="1"/>
          <p:nvPr/>
        </p:nvSpPr>
        <p:spPr>
          <a:xfrm>
            <a:off x="4873752" y="2304288"/>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txBox="1"/>
          <p:nvPr/>
        </p:nvSpPr>
        <p:spPr>
          <a:xfrm>
            <a:off x="5202936" y="2267712"/>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Classify each incident into supported category</a:t>
            </a:r>
            <a:endParaRPr lang="en-US" sz="1050" dirty="0"/>
          </a:p>
        </p:txBody>
      </p:sp>
      <p:sp>
        <p:nvSpPr>
          <p:cNvPr id="16" name="Shape 14"/>
          <p:cNvSpPr/>
          <p:nvPr/>
        </p:nvSpPr>
        <p:spPr>
          <a:xfrm>
            <a:off x="457200" y="2724912"/>
            <a:ext cx="4023360" cy="384048"/>
          </a:xfrm>
          <a:prstGeom prst="rect">
            <a:avLst/>
          </a:prstGeom>
          <a:solidFill>
            <a:srgbClr val="F4F7FB"/>
          </a:solidFill>
          <a:ln w="12700">
            <a:solidFill>
              <a:srgbClr val="D0DCE8"/>
            </a:solidFill>
            <a:prstDash val="solid"/>
          </a:ln>
        </p:spPr>
      </p:sp>
      <p:sp>
        <p:nvSpPr>
          <p:cNvPr id="17" name="Shape 15"/>
          <p:cNvSpPr/>
          <p:nvPr/>
        </p:nvSpPr>
        <p:spPr>
          <a:xfrm>
            <a:off x="530352" y="2779776"/>
            <a:ext cx="274320" cy="256032"/>
          </a:xfrm>
          <a:prstGeom prst="rect">
            <a:avLst/>
          </a:prstGeom>
          <a:solidFill>
            <a:srgbClr val="2E6DA4"/>
          </a:solidFill>
          <a:ln/>
        </p:spPr>
      </p:sp>
      <p:sp>
        <p:nvSpPr>
          <p:cNvPr id="18" name="Text 16"/>
          <p:cNvSpPr txBox="1"/>
          <p:nvPr/>
        </p:nvSpPr>
        <p:spPr>
          <a:xfrm>
            <a:off x="530352" y="2779776"/>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859536" y="2743200"/>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Run appropriate resolution workflow</a:t>
            </a:r>
            <a:endParaRPr lang="en-US" sz="1050" dirty="0"/>
          </a:p>
        </p:txBody>
      </p:sp>
      <p:sp>
        <p:nvSpPr>
          <p:cNvPr id="20" name="Shape 18"/>
          <p:cNvSpPr/>
          <p:nvPr/>
        </p:nvSpPr>
        <p:spPr>
          <a:xfrm>
            <a:off x="4800600" y="2724912"/>
            <a:ext cx="4023360" cy="384048"/>
          </a:xfrm>
          <a:prstGeom prst="rect">
            <a:avLst/>
          </a:prstGeom>
          <a:solidFill>
            <a:srgbClr val="F4F7FB"/>
          </a:solidFill>
          <a:ln w="12700">
            <a:solidFill>
              <a:srgbClr val="D0DCE8"/>
            </a:solidFill>
            <a:prstDash val="solid"/>
          </a:ln>
        </p:spPr>
      </p:sp>
      <p:sp>
        <p:nvSpPr>
          <p:cNvPr id="21" name="Shape 19"/>
          <p:cNvSpPr/>
          <p:nvPr/>
        </p:nvSpPr>
        <p:spPr>
          <a:xfrm>
            <a:off x="4873752" y="2779776"/>
            <a:ext cx="274320" cy="256032"/>
          </a:xfrm>
          <a:prstGeom prst="rect">
            <a:avLst/>
          </a:prstGeom>
          <a:solidFill>
            <a:srgbClr val="2E6DA4"/>
          </a:solidFill>
          <a:ln/>
        </p:spPr>
      </p:sp>
      <p:sp>
        <p:nvSpPr>
          <p:cNvPr id="22" name="Text 20"/>
          <p:cNvSpPr txBox="1"/>
          <p:nvPr/>
        </p:nvSpPr>
        <p:spPr>
          <a:xfrm>
            <a:off x="4873752" y="2779776"/>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1"/>
          <p:cNvSpPr txBox="1"/>
          <p:nvPr/>
        </p:nvSpPr>
        <p:spPr>
          <a:xfrm>
            <a:off x="5202936" y="2743200"/>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Reduce manual coordination via automation</a:t>
            </a:r>
            <a:endParaRPr lang="en-US" sz="1050" dirty="0"/>
          </a:p>
        </p:txBody>
      </p:sp>
      <p:sp>
        <p:nvSpPr>
          <p:cNvPr id="24" name="Shape 22"/>
          <p:cNvSpPr/>
          <p:nvPr/>
        </p:nvSpPr>
        <p:spPr>
          <a:xfrm>
            <a:off x="457200" y="3200400"/>
            <a:ext cx="4023360" cy="384048"/>
          </a:xfrm>
          <a:prstGeom prst="rect">
            <a:avLst/>
          </a:prstGeom>
          <a:solidFill>
            <a:srgbClr val="F4F7FB"/>
          </a:solidFill>
          <a:ln w="12700">
            <a:solidFill>
              <a:srgbClr val="D0DCE8"/>
            </a:solidFill>
            <a:prstDash val="solid"/>
          </a:ln>
        </p:spPr>
      </p:sp>
      <p:sp>
        <p:nvSpPr>
          <p:cNvPr id="25" name="Shape 23"/>
          <p:cNvSpPr/>
          <p:nvPr/>
        </p:nvSpPr>
        <p:spPr>
          <a:xfrm>
            <a:off x="530352" y="3255264"/>
            <a:ext cx="274320" cy="256032"/>
          </a:xfrm>
          <a:prstGeom prst="rect">
            <a:avLst/>
          </a:prstGeom>
          <a:solidFill>
            <a:srgbClr val="2E6DA4"/>
          </a:solidFill>
          <a:ln/>
        </p:spPr>
      </p:sp>
      <p:sp>
        <p:nvSpPr>
          <p:cNvPr id="26" name="Text 24"/>
          <p:cNvSpPr txBox="1"/>
          <p:nvPr/>
        </p:nvSpPr>
        <p:spPr>
          <a:xfrm>
            <a:off x="530352" y="3255264"/>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7" name="Text 25"/>
          <p:cNvSpPr txBox="1"/>
          <p:nvPr/>
        </p:nvSpPr>
        <p:spPr>
          <a:xfrm>
            <a:off x="859536" y="3218688"/>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Clarify who owns every required action</a:t>
            </a:r>
            <a:endParaRPr lang="en-US" sz="1050" dirty="0"/>
          </a:p>
        </p:txBody>
      </p:sp>
      <p:sp>
        <p:nvSpPr>
          <p:cNvPr id="28" name="Shape 26"/>
          <p:cNvSpPr/>
          <p:nvPr/>
        </p:nvSpPr>
        <p:spPr>
          <a:xfrm>
            <a:off x="4800600" y="3200400"/>
            <a:ext cx="4023360" cy="384048"/>
          </a:xfrm>
          <a:prstGeom prst="rect">
            <a:avLst/>
          </a:prstGeom>
          <a:solidFill>
            <a:srgbClr val="F4F7FB"/>
          </a:solidFill>
          <a:ln w="12700">
            <a:solidFill>
              <a:srgbClr val="D0DCE8"/>
            </a:solidFill>
            <a:prstDash val="solid"/>
          </a:ln>
        </p:spPr>
      </p:sp>
      <p:sp>
        <p:nvSpPr>
          <p:cNvPr id="29" name="Shape 27"/>
          <p:cNvSpPr/>
          <p:nvPr/>
        </p:nvSpPr>
        <p:spPr>
          <a:xfrm>
            <a:off x="4873752" y="3255264"/>
            <a:ext cx="274320" cy="256032"/>
          </a:xfrm>
          <a:prstGeom prst="rect">
            <a:avLst/>
          </a:prstGeom>
          <a:solidFill>
            <a:srgbClr val="2E6DA4"/>
          </a:solidFill>
          <a:ln/>
        </p:spPr>
      </p:sp>
      <p:sp>
        <p:nvSpPr>
          <p:cNvPr id="30" name="Text 28"/>
          <p:cNvSpPr txBox="1"/>
          <p:nvPr/>
        </p:nvSpPr>
        <p:spPr>
          <a:xfrm>
            <a:off x="4873752" y="3255264"/>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txBox="1"/>
          <p:nvPr/>
        </p:nvSpPr>
        <p:spPr>
          <a:xfrm>
            <a:off x="5202936" y="3218688"/>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Track incidents from start to finish</a:t>
            </a:r>
            <a:endParaRPr lang="en-US" sz="1050" dirty="0"/>
          </a:p>
        </p:txBody>
      </p:sp>
      <p:sp>
        <p:nvSpPr>
          <p:cNvPr id="32" name="Shape 30"/>
          <p:cNvSpPr/>
          <p:nvPr/>
        </p:nvSpPr>
        <p:spPr>
          <a:xfrm>
            <a:off x="457200" y="3675888"/>
            <a:ext cx="4023360" cy="384048"/>
          </a:xfrm>
          <a:prstGeom prst="rect">
            <a:avLst/>
          </a:prstGeom>
          <a:solidFill>
            <a:srgbClr val="F4F7FB"/>
          </a:solidFill>
          <a:ln w="12700">
            <a:solidFill>
              <a:srgbClr val="D0DCE8"/>
            </a:solidFill>
            <a:prstDash val="solid"/>
          </a:ln>
        </p:spPr>
      </p:sp>
      <p:sp>
        <p:nvSpPr>
          <p:cNvPr id="33" name="Shape 31"/>
          <p:cNvSpPr/>
          <p:nvPr/>
        </p:nvSpPr>
        <p:spPr>
          <a:xfrm>
            <a:off x="530352" y="3730752"/>
            <a:ext cx="274320" cy="256032"/>
          </a:xfrm>
          <a:prstGeom prst="rect">
            <a:avLst/>
          </a:prstGeom>
          <a:solidFill>
            <a:srgbClr val="2E6DA4"/>
          </a:solidFill>
          <a:ln/>
        </p:spPr>
      </p:sp>
      <p:sp>
        <p:nvSpPr>
          <p:cNvPr id="34" name="Text 32"/>
          <p:cNvSpPr txBox="1"/>
          <p:nvPr/>
        </p:nvSpPr>
        <p:spPr>
          <a:xfrm>
            <a:off x="530352" y="3730752"/>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5" name="Text 33"/>
          <p:cNvSpPr txBox="1"/>
          <p:nvPr/>
        </p:nvSpPr>
        <p:spPr>
          <a:xfrm>
            <a:off x="859536" y="3694176"/>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Monitor deadlines and overdue actions</a:t>
            </a:r>
            <a:endParaRPr lang="en-US" sz="1050" dirty="0"/>
          </a:p>
        </p:txBody>
      </p:sp>
      <p:sp>
        <p:nvSpPr>
          <p:cNvPr id="36" name="Shape 34"/>
          <p:cNvSpPr/>
          <p:nvPr/>
        </p:nvSpPr>
        <p:spPr>
          <a:xfrm>
            <a:off x="4800600" y="3675888"/>
            <a:ext cx="4023360" cy="384048"/>
          </a:xfrm>
          <a:prstGeom prst="rect">
            <a:avLst/>
          </a:prstGeom>
          <a:solidFill>
            <a:srgbClr val="F4F7FB"/>
          </a:solidFill>
          <a:ln w="12700">
            <a:solidFill>
              <a:srgbClr val="D0DCE8"/>
            </a:solidFill>
            <a:prstDash val="solid"/>
          </a:ln>
        </p:spPr>
      </p:sp>
      <p:sp>
        <p:nvSpPr>
          <p:cNvPr id="37" name="Shape 35"/>
          <p:cNvSpPr/>
          <p:nvPr/>
        </p:nvSpPr>
        <p:spPr>
          <a:xfrm>
            <a:off x="4873752" y="3730752"/>
            <a:ext cx="274320" cy="256032"/>
          </a:xfrm>
          <a:prstGeom prst="rect">
            <a:avLst/>
          </a:prstGeom>
          <a:solidFill>
            <a:srgbClr val="2E6DA4"/>
          </a:solidFill>
          <a:ln/>
        </p:spPr>
      </p:sp>
      <p:sp>
        <p:nvSpPr>
          <p:cNvPr id="38" name="Text 36"/>
          <p:cNvSpPr txBox="1"/>
          <p:nvPr/>
        </p:nvSpPr>
        <p:spPr>
          <a:xfrm>
            <a:off x="4873752" y="3730752"/>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9" name="Text 37"/>
          <p:cNvSpPr txBox="1"/>
          <p:nvPr/>
        </p:nvSpPr>
        <p:spPr>
          <a:xfrm>
            <a:off x="5202936" y="3694176"/>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Escalate cases when thresholds aren't met</a:t>
            </a:r>
            <a:endParaRPr lang="en-US" sz="1050" dirty="0"/>
          </a:p>
        </p:txBody>
      </p:sp>
      <p:sp>
        <p:nvSpPr>
          <p:cNvPr id="40" name="Shape 38"/>
          <p:cNvSpPr/>
          <p:nvPr/>
        </p:nvSpPr>
        <p:spPr>
          <a:xfrm>
            <a:off x="457200" y="4151376"/>
            <a:ext cx="4023360" cy="384048"/>
          </a:xfrm>
          <a:prstGeom prst="rect">
            <a:avLst/>
          </a:prstGeom>
          <a:solidFill>
            <a:srgbClr val="F4F7FB"/>
          </a:solidFill>
          <a:ln w="12700">
            <a:solidFill>
              <a:srgbClr val="D0DCE8"/>
            </a:solidFill>
            <a:prstDash val="solid"/>
          </a:ln>
        </p:spPr>
      </p:sp>
      <p:sp>
        <p:nvSpPr>
          <p:cNvPr id="41" name="Shape 39"/>
          <p:cNvSpPr/>
          <p:nvPr/>
        </p:nvSpPr>
        <p:spPr>
          <a:xfrm>
            <a:off x="530352" y="4206240"/>
            <a:ext cx="274320" cy="256032"/>
          </a:xfrm>
          <a:prstGeom prst="rect">
            <a:avLst/>
          </a:prstGeom>
          <a:solidFill>
            <a:srgbClr val="2E6DA4"/>
          </a:solidFill>
          <a:ln/>
        </p:spPr>
      </p:sp>
      <p:sp>
        <p:nvSpPr>
          <p:cNvPr id="42" name="Text 40"/>
          <p:cNvSpPr txBox="1"/>
          <p:nvPr/>
        </p:nvSpPr>
        <p:spPr>
          <a:xfrm>
            <a:off x="530352" y="4206240"/>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43" name="Text 41"/>
          <p:cNvSpPr txBox="1"/>
          <p:nvPr/>
        </p:nvSpPr>
        <p:spPr>
          <a:xfrm>
            <a:off x="859536" y="4169664"/>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Handle customer communication throughout</a:t>
            </a:r>
            <a:endParaRPr lang="en-US" sz="1050" dirty="0"/>
          </a:p>
        </p:txBody>
      </p:sp>
      <p:sp>
        <p:nvSpPr>
          <p:cNvPr id="44" name="Shape 42"/>
          <p:cNvSpPr/>
          <p:nvPr/>
        </p:nvSpPr>
        <p:spPr>
          <a:xfrm>
            <a:off x="4800600" y="4151376"/>
            <a:ext cx="4023360" cy="384048"/>
          </a:xfrm>
          <a:prstGeom prst="rect">
            <a:avLst/>
          </a:prstGeom>
          <a:solidFill>
            <a:srgbClr val="F4F7FB"/>
          </a:solidFill>
          <a:ln w="12700">
            <a:solidFill>
              <a:srgbClr val="D0DCE8"/>
            </a:solidFill>
            <a:prstDash val="solid"/>
          </a:ln>
        </p:spPr>
      </p:sp>
      <p:sp>
        <p:nvSpPr>
          <p:cNvPr id="45" name="Shape 43"/>
          <p:cNvSpPr/>
          <p:nvPr/>
        </p:nvSpPr>
        <p:spPr>
          <a:xfrm>
            <a:off x="4873752" y="4206240"/>
            <a:ext cx="274320" cy="256032"/>
          </a:xfrm>
          <a:prstGeom prst="rect">
            <a:avLst/>
          </a:prstGeom>
          <a:solidFill>
            <a:srgbClr val="2E6DA4"/>
          </a:solidFill>
          <a:ln/>
        </p:spPr>
      </p:sp>
      <p:sp>
        <p:nvSpPr>
          <p:cNvPr id="46" name="Text 44"/>
          <p:cNvSpPr txBox="1"/>
          <p:nvPr/>
        </p:nvSpPr>
        <p:spPr>
          <a:xfrm>
            <a:off x="4873752" y="4206240"/>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47" name="Text 45"/>
          <p:cNvSpPr txBox="1"/>
          <p:nvPr/>
        </p:nvSpPr>
        <p:spPr>
          <a:xfrm>
            <a:off x="5202936" y="4169664"/>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Close incidents only after verified resolution</a:t>
            </a:r>
            <a:endParaRPr lang="en-US" sz="1050" dirty="0"/>
          </a:p>
        </p:txBody>
      </p:sp>
      <p:sp>
        <p:nvSpPr>
          <p:cNvPr id="48" name="Shape 46"/>
          <p:cNvSpPr/>
          <p:nvPr/>
        </p:nvSpPr>
        <p:spPr>
          <a:xfrm>
            <a:off x="2651760" y="4626864"/>
            <a:ext cx="4023360" cy="384048"/>
          </a:xfrm>
          <a:prstGeom prst="rect">
            <a:avLst/>
          </a:prstGeom>
          <a:solidFill>
            <a:srgbClr val="F4F7FB"/>
          </a:solidFill>
          <a:ln w="12700">
            <a:solidFill>
              <a:srgbClr val="D0DCE8"/>
            </a:solidFill>
            <a:prstDash val="solid"/>
          </a:ln>
        </p:spPr>
      </p:sp>
      <p:sp>
        <p:nvSpPr>
          <p:cNvPr id="49" name="Shape 47"/>
          <p:cNvSpPr/>
          <p:nvPr/>
        </p:nvSpPr>
        <p:spPr>
          <a:xfrm>
            <a:off x="2724912" y="4681728"/>
            <a:ext cx="274320" cy="256032"/>
          </a:xfrm>
          <a:prstGeom prst="rect">
            <a:avLst/>
          </a:prstGeom>
          <a:solidFill>
            <a:srgbClr val="2E6DA4"/>
          </a:solidFill>
          <a:ln/>
        </p:spPr>
      </p:sp>
      <p:sp>
        <p:nvSpPr>
          <p:cNvPr id="50" name="Text 48"/>
          <p:cNvSpPr txBox="1"/>
          <p:nvPr/>
        </p:nvSpPr>
        <p:spPr>
          <a:xfrm>
            <a:off x="2724912" y="4681728"/>
            <a:ext cx="2743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51" name="Text 49"/>
          <p:cNvSpPr txBox="1"/>
          <p:nvPr/>
        </p:nvSpPr>
        <p:spPr>
          <a:xfrm>
            <a:off x="3054096" y="4645152"/>
            <a:ext cx="356616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Provide operational performance insights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Incident Resolution Lifecycle</a:t>
            </a:r>
            <a:endParaRPr lang="en-US" sz="2600" dirty="0"/>
          </a:p>
        </p:txBody>
      </p:sp>
      <p:sp>
        <p:nvSpPr>
          <p:cNvPr id="4" name="Shape 2"/>
          <p:cNvSpPr/>
          <p:nvPr/>
        </p:nvSpPr>
        <p:spPr>
          <a:xfrm>
            <a:off x="457200" y="804672"/>
            <a:ext cx="8229600" cy="36576"/>
          </a:xfrm>
          <a:prstGeom prst="rect">
            <a:avLst/>
          </a:prstGeom>
          <a:solidFill>
            <a:srgbClr val="D0DCE8"/>
          </a:solidFill>
          <a:ln/>
        </p:spPr>
      </p:sp>
      <p:sp>
        <p:nvSpPr>
          <p:cNvPr id="5" name="Shape 3"/>
          <p:cNvSpPr/>
          <p:nvPr/>
        </p:nvSpPr>
        <p:spPr>
          <a:xfrm>
            <a:off x="640080" y="1463040"/>
            <a:ext cx="1234440" cy="1371600"/>
          </a:xfrm>
          <a:prstGeom prst="rect">
            <a:avLst/>
          </a:prstGeom>
          <a:solidFill>
            <a:srgbClr val="1A3A5C"/>
          </a:solidFill>
          <a:ln/>
        </p:spPr>
      </p:sp>
      <p:sp>
        <p:nvSpPr>
          <p:cNvPr id="6" name="Shape 4"/>
          <p:cNvSpPr/>
          <p:nvPr/>
        </p:nvSpPr>
        <p:spPr>
          <a:xfrm>
            <a:off x="1092708" y="1554480"/>
            <a:ext cx="329184" cy="329184"/>
          </a:xfrm>
          <a:prstGeom prst="ellipse">
            <a:avLst/>
          </a:prstGeom>
          <a:solidFill>
            <a:srgbClr val="FFFFFF"/>
          </a:solidFill>
          <a:ln/>
        </p:spPr>
      </p:sp>
      <p:sp>
        <p:nvSpPr>
          <p:cNvPr id="7" name="Text 5"/>
          <p:cNvSpPr txBox="1"/>
          <p:nvPr/>
        </p:nvSpPr>
        <p:spPr>
          <a:xfrm>
            <a:off x="1092708" y="1554480"/>
            <a:ext cx="329184" cy="329184"/>
          </a:xfrm>
          <a:prstGeom prst="rect">
            <a:avLst/>
          </a:prstGeom>
          <a:noFill/>
          <a:ln/>
        </p:spPr>
        <p:txBody>
          <a:bodyPr wrap="square" lIns="0" tIns="0" rIns="0" bIns="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640080" y="1965960"/>
            <a:ext cx="1234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Detect</a:t>
            </a:r>
            <a:endParaRPr lang="en-US" sz="1300" dirty="0"/>
          </a:p>
        </p:txBody>
      </p:sp>
      <p:sp>
        <p:nvSpPr>
          <p:cNvPr id="9" name="Text 7"/>
          <p:cNvSpPr txBox="1"/>
          <p:nvPr/>
        </p:nvSpPr>
        <p:spPr>
          <a:xfrm>
            <a:off x="640080" y="2331720"/>
            <a:ext cx="1234440" cy="502920"/>
          </a:xfrm>
          <a:prstGeom prst="rect">
            <a:avLst/>
          </a:prstGeom>
          <a:noFill/>
          <a:ln/>
        </p:spPr>
        <p:txBody>
          <a:bodyPr wrap="square" lIns="0" tIns="0" rIns="0" bIns="0" rtlCol="0" anchor="ctr"/>
          <a:lstStyle/>
          <a:p>
            <a:pPr algn="ctr" indent="0" marL="0">
              <a:buNone/>
            </a:pPr>
            <a:r>
              <a:rPr lang="en-US" sz="950" dirty="0">
                <a:solidFill>
                  <a:srgbClr val="D0E8FF"/>
                </a:solidFill>
                <a:latin typeface="Calibri" pitchFamily="34" charset="0"/>
                <a:ea typeface="Calibri" pitchFamily="34" charset="-122"/>
                <a:cs typeface="Calibri" pitchFamily="34" charset="-120"/>
              </a:rPr>
              <a:t>System or</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customer flags</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an issue</a:t>
            </a:r>
            <a:endParaRPr lang="en-US" sz="950" dirty="0"/>
          </a:p>
        </p:txBody>
      </p:sp>
      <p:sp>
        <p:nvSpPr>
          <p:cNvPr id="10" name="Shape 8"/>
          <p:cNvSpPr/>
          <p:nvPr/>
        </p:nvSpPr>
        <p:spPr>
          <a:xfrm>
            <a:off x="1874520" y="2130552"/>
            <a:ext cx="91440" cy="36576"/>
          </a:xfrm>
          <a:prstGeom prst="rect">
            <a:avLst/>
          </a:prstGeom>
          <a:solidFill>
            <a:srgbClr val="AAAAAA"/>
          </a:solidFill>
          <a:ln/>
        </p:spPr>
      </p:sp>
      <p:sp>
        <p:nvSpPr>
          <p:cNvPr id="11" name="Shape 9"/>
          <p:cNvSpPr/>
          <p:nvPr/>
        </p:nvSpPr>
        <p:spPr>
          <a:xfrm>
            <a:off x="1965960" y="1463040"/>
            <a:ext cx="1234440" cy="1371600"/>
          </a:xfrm>
          <a:prstGeom prst="rect">
            <a:avLst/>
          </a:prstGeom>
          <a:solidFill>
            <a:srgbClr val="1E4E7A"/>
          </a:solidFill>
          <a:ln/>
        </p:spPr>
      </p:sp>
      <p:sp>
        <p:nvSpPr>
          <p:cNvPr id="12" name="Shape 10"/>
          <p:cNvSpPr/>
          <p:nvPr/>
        </p:nvSpPr>
        <p:spPr>
          <a:xfrm>
            <a:off x="2418588" y="1554480"/>
            <a:ext cx="329184" cy="329184"/>
          </a:xfrm>
          <a:prstGeom prst="ellipse">
            <a:avLst/>
          </a:prstGeom>
          <a:solidFill>
            <a:srgbClr val="FFFFFF"/>
          </a:solidFill>
          <a:ln/>
        </p:spPr>
      </p:sp>
      <p:sp>
        <p:nvSpPr>
          <p:cNvPr id="13" name="Text 11"/>
          <p:cNvSpPr txBox="1"/>
          <p:nvPr/>
        </p:nvSpPr>
        <p:spPr>
          <a:xfrm>
            <a:off x="2418588" y="1554480"/>
            <a:ext cx="329184" cy="329184"/>
          </a:xfrm>
          <a:prstGeom prst="rect">
            <a:avLst/>
          </a:prstGeom>
          <a:noFill/>
          <a:ln/>
        </p:spPr>
        <p:txBody>
          <a:bodyPr wrap="square" lIns="0" tIns="0" rIns="0" bIns="0" rtlCol="0" anchor="ctr"/>
          <a:lstStyle/>
          <a:p>
            <a:pPr algn="ctr" indent="0" marL="0">
              <a:buNone/>
            </a:pPr>
            <a:r>
              <a:rPr lang="en-US" sz="1100" b="1" dirty="0">
                <a:solidFill>
                  <a:srgbClr val="1E4E7A"/>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965960" y="1965960"/>
            <a:ext cx="1234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Understand</a:t>
            </a:r>
            <a:endParaRPr lang="en-US" sz="1300" dirty="0"/>
          </a:p>
        </p:txBody>
      </p:sp>
      <p:sp>
        <p:nvSpPr>
          <p:cNvPr id="15" name="Text 13"/>
          <p:cNvSpPr txBox="1"/>
          <p:nvPr/>
        </p:nvSpPr>
        <p:spPr>
          <a:xfrm>
            <a:off x="1965960" y="2331720"/>
            <a:ext cx="1234440" cy="502920"/>
          </a:xfrm>
          <a:prstGeom prst="rect">
            <a:avLst/>
          </a:prstGeom>
          <a:noFill/>
          <a:ln/>
        </p:spPr>
        <p:txBody>
          <a:bodyPr wrap="square" lIns="0" tIns="0" rIns="0" bIns="0" rtlCol="0" anchor="ctr"/>
          <a:lstStyle/>
          <a:p>
            <a:pPr algn="ctr" indent="0" marL="0">
              <a:buNone/>
            </a:pPr>
            <a:r>
              <a:rPr lang="en-US" sz="950" dirty="0">
                <a:solidFill>
                  <a:srgbClr val="D0E8FF"/>
                </a:solidFill>
                <a:latin typeface="Calibri" pitchFamily="34" charset="0"/>
                <a:ea typeface="Calibri" pitchFamily="34" charset="-122"/>
                <a:cs typeface="Calibri" pitchFamily="34" charset="-120"/>
              </a:rPr>
              <a:t>Assess &amp;</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classify the</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incident</a:t>
            </a:r>
            <a:endParaRPr lang="en-US" sz="950" dirty="0"/>
          </a:p>
        </p:txBody>
      </p:sp>
      <p:sp>
        <p:nvSpPr>
          <p:cNvPr id="16" name="Shape 14"/>
          <p:cNvSpPr/>
          <p:nvPr/>
        </p:nvSpPr>
        <p:spPr>
          <a:xfrm>
            <a:off x="3200400" y="2130552"/>
            <a:ext cx="91440" cy="36576"/>
          </a:xfrm>
          <a:prstGeom prst="rect">
            <a:avLst/>
          </a:prstGeom>
          <a:solidFill>
            <a:srgbClr val="AAAAAA"/>
          </a:solidFill>
          <a:ln/>
        </p:spPr>
      </p:sp>
      <p:sp>
        <p:nvSpPr>
          <p:cNvPr id="17" name="Shape 15"/>
          <p:cNvSpPr/>
          <p:nvPr/>
        </p:nvSpPr>
        <p:spPr>
          <a:xfrm>
            <a:off x="3291840" y="1463040"/>
            <a:ext cx="1234440" cy="1371600"/>
          </a:xfrm>
          <a:prstGeom prst="rect">
            <a:avLst/>
          </a:prstGeom>
          <a:solidFill>
            <a:srgbClr val="2564A0"/>
          </a:solidFill>
          <a:ln/>
        </p:spPr>
      </p:sp>
      <p:sp>
        <p:nvSpPr>
          <p:cNvPr id="18" name="Shape 16"/>
          <p:cNvSpPr/>
          <p:nvPr/>
        </p:nvSpPr>
        <p:spPr>
          <a:xfrm>
            <a:off x="3744468" y="1554480"/>
            <a:ext cx="329184" cy="329184"/>
          </a:xfrm>
          <a:prstGeom prst="ellipse">
            <a:avLst/>
          </a:prstGeom>
          <a:solidFill>
            <a:srgbClr val="FFFFFF"/>
          </a:solidFill>
          <a:ln/>
        </p:spPr>
      </p:sp>
      <p:sp>
        <p:nvSpPr>
          <p:cNvPr id="19" name="Text 17"/>
          <p:cNvSpPr txBox="1"/>
          <p:nvPr/>
        </p:nvSpPr>
        <p:spPr>
          <a:xfrm>
            <a:off x="3744468" y="1554480"/>
            <a:ext cx="329184" cy="329184"/>
          </a:xfrm>
          <a:prstGeom prst="rect">
            <a:avLst/>
          </a:prstGeom>
          <a:noFill/>
          <a:ln/>
        </p:spPr>
        <p:txBody>
          <a:bodyPr wrap="square" lIns="0" tIns="0" rIns="0" bIns="0" rtlCol="0" anchor="ctr"/>
          <a:lstStyle/>
          <a:p>
            <a:pPr algn="ctr" indent="0" marL="0">
              <a:buNone/>
            </a:pPr>
            <a:r>
              <a:rPr lang="en-US" sz="1100" b="1" dirty="0">
                <a:solidFill>
                  <a:srgbClr val="2564A0"/>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3291840" y="1965960"/>
            <a:ext cx="1234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a:t>
            </a:r>
            <a:endParaRPr lang="en-US" sz="1300" dirty="0"/>
          </a:p>
        </p:txBody>
      </p:sp>
      <p:sp>
        <p:nvSpPr>
          <p:cNvPr id="21" name="Text 19"/>
          <p:cNvSpPr txBox="1"/>
          <p:nvPr/>
        </p:nvSpPr>
        <p:spPr>
          <a:xfrm>
            <a:off x="3291840" y="2331720"/>
            <a:ext cx="1234440" cy="502920"/>
          </a:xfrm>
          <a:prstGeom prst="rect">
            <a:avLst/>
          </a:prstGeom>
          <a:noFill/>
          <a:ln/>
        </p:spPr>
        <p:txBody>
          <a:bodyPr wrap="square" lIns="0" tIns="0" rIns="0" bIns="0" rtlCol="0" anchor="ctr"/>
          <a:lstStyle/>
          <a:p>
            <a:pPr algn="ctr" indent="0" marL="0">
              <a:buNone/>
            </a:pPr>
            <a:r>
              <a:rPr lang="en-US" sz="950" dirty="0">
                <a:solidFill>
                  <a:srgbClr val="D0E8FF"/>
                </a:solidFill>
                <a:latin typeface="Calibri" pitchFamily="34" charset="0"/>
                <a:ea typeface="Calibri" pitchFamily="34" charset="-122"/>
                <a:cs typeface="Calibri" pitchFamily="34" charset="-120"/>
              </a:rPr>
              <a:t>Run resolution</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workflow &amp;</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assign actions</a:t>
            </a:r>
            <a:endParaRPr lang="en-US" sz="950" dirty="0"/>
          </a:p>
        </p:txBody>
      </p:sp>
      <p:sp>
        <p:nvSpPr>
          <p:cNvPr id="22" name="Shape 20"/>
          <p:cNvSpPr/>
          <p:nvPr/>
        </p:nvSpPr>
        <p:spPr>
          <a:xfrm>
            <a:off x="4526280" y="2130552"/>
            <a:ext cx="91440" cy="36576"/>
          </a:xfrm>
          <a:prstGeom prst="rect">
            <a:avLst/>
          </a:prstGeom>
          <a:solidFill>
            <a:srgbClr val="AAAAAA"/>
          </a:solidFill>
          <a:ln/>
        </p:spPr>
      </p:sp>
      <p:sp>
        <p:nvSpPr>
          <p:cNvPr id="23" name="Shape 21"/>
          <p:cNvSpPr/>
          <p:nvPr/>
        </p:nvSpPr>
        <p:spPr>
          <a:xfrm>
            <a:off x="4617720" y="1463040"/>
            <a:ext cx="1234440" cy="1371600"/>
          </a:xfrm>
          <a:prstGeom prst="rect">
            <a:avLst/>
          </a:prstGeom>
          <a:solidFill>
            <a:srgbClr val="2E79C4"/>
          </a:solidFill>
          <a:ln/>
        </p:spPr>
      </p:sp>
      <p:sp>
        <p:nvSpPr>
          <p:cNvPr id="24" name="Shape 22"/>
          <p:cNvSpPr/>
          <p:nvPr/>
        </p:nvSpPr>
        <p:spPr>
          <a:xfrm>
            <a:off x="5070348" y="1554480"/>
            <a:ext cx="329184" cy="329184"/>
          </a:xfrm>
          <a:prstGeom prst="ellipse">
            <a:avLst/>
          </a:prstGeom>
          <a:solidFill>
            <a:srgbClr val="FFFFFF"/>
          </a:solidFill>
          <a:ln/>
        </p:spPr>
      </p:sp>
      <p:sp>
        <p:nvSpPr>
          <p:cNvPr id="25" name="Text 23"/>
          <p:cNvSpPr txBox="1"/>
          <p:nvPr/>
        </p:nvSpPr>
        <p:spPr>
          <a:xfrm>
            <a:off x="5070348" y="1554480"/>
            <a:ext cx="329184" cy="329184"/>
          </a:xfrm>
          <a:prstGeom prst="rect">
            <a:avLst/>
          </a:prstGeom>
          <a:noFill/>
          <a:ln/>
        </p:spPr>
        <p:txBody>
          <a:bodyPr wrap="square" lIns="0" tIns="0" rIns="0" bIns="0" rtlCol="0" anchor="ctr"/>
          <a:lstStyle/>
          <a:p>
            <a:pPr algn="ctr" indent="0" marL="0">
              <a:buNone/>
            </a:pPr>
            <a:r>
              <a:rPr lang="en-US" sz="1100" b="1" dirty="0">
                <a:solidFill>
                  <a:srgbClr val="2E79C4"/>
                </a:solidFill>
                <a:latin typeface="Calibri" pitchFamily="34" charset="0"/>
                <a:ea typeface="Calibri" pitchFamily="34" charset="-122"/>
                <a:cs typeface="Calibri" pitchFamily="34" charset="-120"/>
              </a:rPr>
              <a:t>4</a:t>
            </a:r>
            <a:endParaRPr lang="en-US" sz="1100" dirty="0"/>
          </a:p>
        </p:txBody>
      </p:sp>
      <p:sp>
        <p:nvSpPr>
          <p:cNvPr id="26" name="Text 24"/>
          <p:cNvSpPr txBox="1"/>
          <p:nvPr/>
        </p:nvSpPr>
        <p:spPr>
          <a:xfrm>
            <a:off x="4617720" y="1965960"/>
            <a:ext cx="1234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Monitor</a:t>
            </a:r>
            <a:endParaRPr lang="en-US" sz="1300" dirty="0"/>
          </a:p>
        </p:txBody>
      </p:sp>
      <p:sp>
        <p:nvSpPr>
          <p:cNvPr id="27" name="Text 25"/>
          <p:cNvSpPr txBox="1"/>
          <p:nvPr/>
        </p:nvSpPr>
        <p:spPr>
          <a:xfrm>
            <a:off x="4617720" y="2331720"/>
            <a:ext cx="1234440" cy="502920"/>
          </a:xfrm>
          <a:prstGeom prst="rect">
            <a:avLst/>
          </a:prstGeom>
          <a:noFill/>
          <a:ln/>
        </p:spPr>
        <p:txBody>
          <a:bodyPr wrap="square" lIns="0" tIns="0" rIns="0" bIns="0" rtlCol="0" anchor="ctr"/>
          <a:lstStyle/>
          <a:p>
            <a:pPr algn="ctr" indent="0" marL="0">
              <a:buNone/>
            </a:pPr>
            <a:r>
              <a:rPr lang="en-US" sz="950" dirty="0">
                <a:solidFill>
                  <a:srgbClr val="D0E8FF"/>
                </a:solidFill>
                <a:latin typeface="Calibri" pitchFamily="34" charset="0"/>
                <a:ea typeface="Calibri" pitchFamily="34" charset="-122"/>
                <a:cs typeface="Calibri" pitchFamily="34" charset="-120"/>
              </a:rPr>
              <a:t>Track deadlines,</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escalate if</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needed</a:t>
            </a:r>
            <a:endParaRPr lang="en-US" sz="950" dirty="0"/>
          </a:p>
        </p:txBody>
      </p:sp>
      <p:sp>
        <p:nvSpPr>
          <p:cNvPr id="28" name="Shape 26"/>
          <p:cNvSpPr/>
          <p:nvPr/>
        </p:nvSpPr>
        <p:spPr>
          <a:xfrm>
            <a:off x="5852160" y="2130552"/>
            <a:ext cx="91440" cy="36576"/>
          </a:xfrm>
          <a:prstGeom prst="rect">
            <a:avLst/>
          </a:prstGeom>
          <a:solidFill>
            <a:srgbClr val="AAAAAA"/>
          </a:solidFill>
          <a:ln/>
        </p:spPr>
      </p:sp>
      <p:sp>
        <p:nvSpPr>
          <p:cNvPr id="29" name="Shape 27"/>
          <p:cNvSpPr/>
          <p:nvPr/>
        </p:nvSpPr>
        <p:spPr>
          <a:xfrm>
            <a:off x="5943600" y="1463040"/>
            <a:ext cx="1234440" cy="1371600"/>
          </a:xfrm>
          <a:prstGeom prst="rect">
            <a:avLst/>
          </a:prstGeom>
          <a:solidFill>
            <a:srgbClr val="348ED6"/>
          </a:solidFill>
          <a:ln/>
        </p:spPr>
      </p:sp>
      <p:sp>
        <p:nvSpPr>
          <p:cNvPr id="30" name="Shape 28"/>
          <p:cNvSpPr/>
          <p:nvPr/>
        </p:nvSpPr>
        <p:spPr>
          <a:xfrm>
            <a:off x="6396228" y="1554480"/>
            <a:ext cx="329184" cy="329184"/>
          </a:xfrm>
          <a:prstGeom prst="ellipse">
            <a:avLst/>
          </a:prstGeom>
          <a:solidFill>
            <a:srgbClr val="FFFFFF"/>
          </a:solidFill>
          <a:ln/>
        </p:spPr>
      </p:sp>
      <p:sp>
        <p:nvSpPr>
          <p:cNvPr id="31" name="Text 29"/>
          <p:cNvSpPr txBox="1"/>
          <p:nvPr/>
        </p:nvSpPr>
        <p:spPr>
          <a:xfrm>
            <a:off x="6396228" y="1554480"/>
            <a:ext cx="329184" cy="329184"/>
          </a:xfrm>
          <a:prstGeom prst="rect">
            <a:avLst/>
          </a:prstGeom>
          <a:noFill/>
          <a:ln/>
        </p:spPr>
        <p:txBody>
          <a:bodyPr wrap="square" lIns="0" tIns="0" rIns="0" bIns="0" rtlCol="0" anchor="ctr"/>
          <a:lstStyle/>
          <a:p>
            <a:pPr algn="ctr" indent="0" marL="0">
              <a:buNone/>
            </a:pPr>
            <a:r>
              <a:rPr lang="en-US" sz="1100" b="1" dirty="0">
                <a:solidFill>
                  <a:srgbClr val="348ED6"/>
                </a:solidFill>
                <a:latin typeface="Calibri" pitchFamily="34" charset="0"/>
                <a:ea typeface="Calibri" pitchFamily="34" charset="-122"/>
                <a:cs typeface="Calibri" pitchFamily="34" charset="-120"/>
              </a:rPr>
              <a:t>5</a:t>
            </a:r>
            <a:endParaRPr lang="en-US" sz="1100" dirty="0"/>
          </a:p>
        </p:txBody>
      </p:sp>
      <p:sp>
        <p:nvSpPr>
          <p:cNvPr id="32" name="Text 30"/>
          <p:cNvSpPr txBox="1"/>
          <p:nvPr/>
        </p:nvSpPr>
        <p:spPr>
          <a:xfrm>
            <a:off x="5943600" y="1965960"/>
            <a:ext cx="1234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33" name="Text 31"/>
          <p:cNvSpPr txBox="1"/>
          <p:nvPr/>
        </p:nvSpPr>
        <p:spPr>
          <a:xfrm>
            <a:off x="5943600" y="2331720"/>
            <a:ext cx="1234440" cy="502920"/>
          </a:xfrm>
          <a:prstGeom prst="rect">
            <a:avLst/>
          </a:prstGeom>
          <a:noFill/>
          <a:ln/>
        </p:spPr>
        <p:txBody>
          <a:bodyPr wrap="square" lIns="0" tIns="0" rIns="0" bIns="0" rtlCol="0" anchor="ctr"/>
          <a:lstStyle/>
          <a:p>
            <a:pPr algn="ctr" indent="0" marL="0">
              <a:buNone/>
            </a:pPr>
            <a:r>
              <a:rPr lang="en-US" sz="950" dirty="0">
                <a:solidFill>
                  <a:srgbClr val="D0E8FF"/>
                </a:solidFill>
                <a:latin typeface="Calibri" pitchFamily="34" charset="0"/>
                <a:ea typeface="Calibri" pitchFamily="34" charset="-122"/>
                <a:cs typeface="Calibri" pitchFamily="34" charset="-120"/>
              </a:rPr>
              <a:t>Confirm actual</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resolution,</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not just action</a:t>
            </a:r>
            <a:endParaRPr lang="en-US" sz="950" dirty="0"/>
          </a:p>
        </p:txBody>
      </p:sp>
      <p:sp>
        <p:nvSpPr>
          <p:cNvPr id="34" name="Shape 32"/>
          <p:cNvSpPr/>
          <p:nvPr/>
        </p:nvSpPr>
        <p:spPr>
          <a:xfrm>
            <a:off x="7178040" y="2130552"/>
            <a:ext cx="91440" cy="36576"/>
          </a:xfrm>
          <a:prstGeom prst="rect">
            <a:avLst/>
          </a:prstGeom>
          <a:solidFill>
            <a:srgbClr val="AAAAAA"/>
          </a:solidFill>
          <a:ln/>
        </p:spPr>
      </p:sp>
      <p:sp>
        <p:nvSpPr>
          <p:cNvPr id="35" name="Shape 33"/>
          <p:cNvSpPr/>
          <p:nvPr/>
        </p:nvSpPr>
        <p:spPr>
          <a:xfrm>
            <a:off x="7269480" y="1463040"/>
            <a:ext cx="1234440" cy="1371600"/>
          </a:xfrm>
          <a:prstGeom prst="rect">
            <a:avLst/>
          </a:prstGeom>
          <a:solidFill>
            <a:srgbClr val="F0A500"/>
          </a:solidFill>
          <a:ln/>
        </p:spPr>
      </p:sp>
      <p:sp>
        <p:nvSpPr>
          <p:cNvPr id="36" name="Shape 34"/>
          <p:cNvSpPr/>
          <p:nvPr/>
        </p:nvSpPr>
        <p:spPr>
          <a:xfrm>
            <a:off x="7722108" y="1554480"/>
            <a:ext cx="329184" cy="329184"/>
          </a:xfrm>
          <a:prstGeom prst="ellipse">
            <a:avLst/>
          </a:prstGeom>
          <a:solidFill>
            <a:srgbClr val="FFFFFF"/>
          </a:solidFill>
          <a:ln/>
        </p:spPr>
      </p:sp>
      <p:sp>
        <p:nvSpPr>
          <p:cNvPr id="37" name="Text 35"/>
          <p:cNvSpPr txBox="1"/>
          <p:nvPr/>
        </p:nvSpPr>
        <p:spPr>
          <a:xfrm>
            <a:off x="7722108" y="1554480"/>
            <a:ext cx="329184" cy="329184"/>
          </a:xfrm>
          <a:prstGeom prst="rect">
            <a:avLst/>
          </a:prstGeom>
          <a:noFill/>
          <a:ln/>
        </p:spPr>
        <p:txBody>
          <a:bodyPr wrap="square" lIns="0" tIns="0" rIns="0" bIns="0" rtlCol="0" anchor="ctr"/>
          <a:lstStyle/>
          <a:p>
            <a:pPr algn="ctr" indent="0" marL="0">
              <a:buNone/>
            </a:pPr>
            <a:r>
              <a:rPr lang="en-US" sz="1100" b="1" dirty="0">
                <a:solidFill>
                  <a:srgbClr val="F0A500"/>
                </a:solidFill>
                <a:latin typeface="Calibri" pitchFamily="34" charset="0"/>
                <a:ea typeface="Calibri" pitchFamily="34" charset="-122"/>
                <a:cs typeface="Calibri" pitchFamily="34" charset="-120"/>
              </a:rPr>
              <a:t>6</a:t>
            </a:r>
            <a:endParaRPr lang="en-US" sz="1100" dirty="0"/>
          </a:p>
        </p:txBody>
      </p:sp>
      <p:sp>
        <p:nvSpPr>
          <p:cNvPr id="38" name="Text 36"/>
          <p:cNvSpPr txBox="1"/>
          <p:nvPr/>
        </p:nvSpPr>
        <p:spPr>
          <a:xfrm>
            <a:off x="7269480" y="1965960"/>
            <a:ext cx="12344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a:t>
            </a:r>
            <a:endParaRPr lang="en-US" sz="1300" dirty="0"/>
          </a:p>
        </p:txBody>
      </p:sp>
      <p:sp>
        <p:nvSpPr>
          <p:cNvPr id="39" name="Text 37"/>
          <p:cNvSpPr txBox="1"/>
          <p:nvPr/>
        </p:nvSpPr>
        <p:spPr>
          <a:xfrm>
            <a:off x="7269480" y="2331720"/>
            <a:ext cx="1234440" cy="502920"/>
          </a:xfrm>
          <a:prstGeom prst="rect">
            <a:avLst/>
          </a:prstGeom>
          <a:noFill/>
          <a:ln/>
        </p:spPr>
        <p:txBody>
          <a:bodyPr wrap="square" lIns="0" tIns="0" rIns="0" bIns="0" rtlCol="0" anchor="ctr"/>
          <a:lstStyle/>
          <a:p>
            <a:pPr algn="ctr" indent="0" marL="0">
              <a:buNone/>
            </a:pPr>
            <a:r>
              <a:rPr lang="en-US" sz="950" dirty="0">
                <a:solidFill>
                  <a:srgbClr val="D0E8FF"/>
                </a:solidFill>
                <a:latin typeface="Calibri" pitchFamily="34" charset="0"/>
                <a:ea typeface="Calibri" pitchFamily="34" charset="-122"/>
                <a:cs typeface="Calibri" pitchFamily="34" charset="-120"/>
              </a:rPr>
              <a:t>Formally close</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&amp; record</a:t>
            </a:r>
            <a:endParaRPr lang="en-US" sz="950" dirty="0"/>
          </a:p>
          <a:p>
            <a:pPr algn="ctr" indent="0" marL="0">
              <a:buNone/>
            </a:pPr>
            <a:r>
              <a:rPr lang="en-US" sz="950" dirty="0">
                <a:solidFill>
                  <a:srgbClr val="D0E8FF"/>
                </a:solidFill>
                <a:latin typeface="Calibri" pitchFamily="34" charset="0"/>
                <a:ea typeface="Calibri" pitchFamily="34" charset="-122"/>
                <a:cs typeface="Calibri" pitchFamily="34" charset="-120"/>
              </a:rPr>
              <a:t>outcome</a:t>
            </a:r>
            <a:endParaRPr lang="en-US" sz="950" dirty="0"/>
          </a:p>
        </p:txBody>
      </p:sp>
      <p:sp>
        <p:nvSpPr>
          <p:cNvPr id="40" name="Text 38"/>
          <p:cNvSpPr txBox="1"/>
          <p:nvPr/>
        </p:nvSpPr>
        <p:spPr>
          <a:xfrm>
            <a:off x="457200" y="3063240"/>
            <a:ext cx="1828800" cy="274320"/>
          </a:xfrm>
          <a:prstGeom prst="rect">
            <a:avLst/>
          </a:prstGeom>
          <a:noFill/>
          <a:ln/>
        </p:spPr>
        <p:txBody>
          <a:bodyPr wrap="square" lIns="0" tIns="0" rIns="0" bIns="0" rtlCol="0" anchor="ctr"/>
          <a:lstStyle/>
          <a:p>
            <a:pPr indent="0" marL="0">
              <a:buNone/>
            </a:pPr>
            <a:r>
              <a:rPr lang="en-US" sz="1200" b="1" dirty="0">
                <a:solidFill>
                  <a:srgbClr val="1A3A5C"/>
                </a:solidFill>
                <a:latin typeface="Calibri" pitchFamily="34" charset="0"/>
                <a:ea typeface="Calibri" pitchFamily="34" charset="-122"/>
                <a:cs typeface="Calibri" pitchFamily="34" charset="-120"/>
              </a:rPr>
              <a:t>Entry Points</a:t>
            </a:r>
            <a:endParaRPr lang="en-US" sz="1200" dirty="0"/>
          </a:p>
        </p:txBody>
      </p:sp>
      <p:sp>
        <p:nvSpPr>
          <p:cNvPr id="41" name="Shape 39"/>
          <p:cNvSpPr/>
          <p:nvPr/>
        </p:nvSpPr>
        <p:spPr>
          <a:xfrm>
            <a:off x="457200" y="3429000"/>
            <a:ext cx="3931920" cy="822960"/>
          </a:xfrm>
          <a:prstGeom prst="rect">
            <a:avLst/>
          </a:prstGeom>
          <a:solidFill>
            <a:srgbClr val="F4F7FB"/>
          </a:solidFill>
          <a:ln w="12700">
            <a:solidFill>
              <a:srgbClr val="2E6DA4"/>
            </a:solidFill>
            <a:prstDash val="solid"/>
          </a:ln>
        </p:spPr>
      </p:sp>
      <p:sp>
        <p:nvSpPr>
          <p:cNvPr id="42" name="Text 40"/>
          <p:cNvSpPr txBox="1"/>
          <p:nvPr/>
        </p:nvSpPr>
        <p:spPr>
          <a:xfrm>
            <a:off x="548640" y="3474720"/>
            <a:ext cx="3749040" cy="274320"/>
          </a:xfrm>
          <a:prstGeom prst="rect">
            <a:avLst/>
          </a:prstGeom>
          <a:noFill/>
          <a:ln/>
        </p:spPr>
        <p:txBody>
          <a:bodyPr wrap="square" lIns="0" tIns="0" rIns="0" bIns="0" rtlCol="0" anchor="ctr"/>
          <a:lstStyle/>
          <a:p>
            <a:pPr indent="0" marL="0">
              <a:buNone/>
            </a:pPr>
            <a:r>
              <a:rPr lang="en-US" sz="1200" b="1" dirty="0">
                <a:solidFill>
                  <a:srgbClr val="2E6DA4"/>
                </a:solidFill>
                <a:latin typeface="Calibri" pitchFamily="34" charset="0"/>
                <a:ea typeface="Calibri" pitchFamily="34" charset="-122"/>
                <a:cs typeface="Calibri" pitchFamily="34" charset="-120"/>
              </a:rPr>
              <a:t>System-Initiated</a:t>
            </a:r>
            <a:endParaRPr lang="en-US" sz="1200" dirty="0"/>
          </a:p>
        </p:txBody>
      </p:sp>
      <p:sp>
        <p:nvSpPr>
          <p:cNvPr id="43" name="Text 41"/>
          <p:cNvSpPr txBox="1"/>
          <p:nvPr/>
        </p:nvSpPr>
        <p:spPr>
          <a:xfrm>
            <a:off x="548640" y="3749040"/>
            <a:ext cx="3749040" cy="41148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Operational system detects anomaly (e.g. stalled parcel)</a:t>
            </a:r>
            <a:endParaRPr lang="en-US" sz="1050" dirty="0"/>
          </a:p>
        </p:txBody>
      </p:sp>
      <p:sp>
        <p:nvSpPr>
          <p:cNvPr id="44" name="Shape 42"/>
          <p:cNvSpPr/>
          <p:nvPr/>
        </p:nvSpPr>
        <p:spPr>
          <a:xfrm>
            <a:off x="4754880" y="3429000"/>
            <a:ext cx="3931920" cy="822960"/>
          </a:xfrm>
          <a:prstGeom prst="rect">
            <a:avLst/>
          </a:prstGeom>
          <a:solidFill>
            <a:srgbClr val="F4F7FB"/>
          </a:solidFill>
          <a:ln w="12700">
            <a:solidFill>
              <a:srgbClr val="2E6DA4"/>
            </a:solidFill>
            <a:prstDash val="solid"/>
          </a:ln>
        </p:spPr>
      </p:sp>
      <p:sp>
        <p:nvSpPr>
          <p:cNvPr id="45" name="Text 43"/>
          <p:cNvSpPr txBox="1"/>
          <p:nvPr/>
        </p:nvSpPr>
        <p:spPr>
          <a:xfrm>
            <a:off x="4846320" y="3474720"/>
            <a:ext cx="3749040" cy="274320"/>
          </a:xfrm>
          <a:prstGeom prst="rect">
            <a:avLst/>
          </a:prstGeom>
          <a:noFill/>
          <a:ln/>
        </p:spPr>
        <p:txBody>
          <a:bodyPr wrap="square" lIns="0" tIns="0" rIns="0" bIns="0" rtlCol="0" anchor="ctr"/>
          <a:lstStyle/>
          <a:p>
            <a:pPr indent="0" marL="0">
              <a:buNone/>
            </a:pPr>
            <a:r>
              <a:rPr lang="en-US" sz="1200" b="1" dirty="0">
                <a:solidFill>
                  <a:srgbClr val="2E6DA4"/>
                </a:solidFill>
                <a:latin typeface="Calibri" pitchFamily="34" charset="0"/>
                <a:ea typeface="Calibri" pitchFamily="34" charset="-122"/>
                <a:cs typeface="Calibri" pitchFamily="34" charset="-120"/>
              </a:rPr>
              <a:t>Customer-Initiated</a:t>
            </a:r>
            <a:endParaRPr lang="en-US" sz="1200" dirty="0"/>
          </a:p>
        </p:txBody>
      </p:sp>
      <p:sp>
        <p:nvSpPr>
          <p:cNvPr id="46" name="Text 44"/>
          <p:cNvSpPr txBox="1"/>
          <p:nvPr/>
        </p:nvSpPr>
        <p:spPr>
          <a:xfrm>
            <a:off x="4846320" y="3749040"/>
            <a:ext cx="3749040" cy="41148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Customer or CS agent reports a delivery problem</a:t>
            </a:r>
            <a:endParaRPr lang="en-US" sz="1050" dirty="0"/>
          </a:p>
        </p:txBody>
      </p:sp>
      <p:sp>
        <p:nvSpPr>
          <p:cNvPr id="47" name="Text 45"/>
          <p:cNvSpPr txBox="1"/>
          <p:nvPr/>
        </p:nvSpPr>
        <p:spPr>
          <a:xfrm>
            <a:off x="457200" y="4407408"/>
            <a:ext cx="8229600" cy="320040"/>
          </a:xfrm>
          <a:prstGeom prst="rect">
            <a:avLst/>
          </a:prstGeom>
          <a:noFill/>
          <a:ln/>
        </p:spPr>
        <p:txBody>
          <a:bodyPr wrap="square" lIns="0" tIns="0" rIns="0" bIns="0" rtlCol="0" anchor="ctr"/>
          <a:lstStyle/>
          <a:p>
            <a:pPr algn="ctr" indent="0" marL="0">
              <a:buNone/>
            </a:pPr>
            <a:r>
              <a:rPr lang="en-US" sz="1100" i="1" dirty="0">
                <a:solidFill>
                  <a:srgbClr val="4A5568"/>
                </a:solidFill>
                <a:latin typeface="Calibri" pitchFamily="34" charset="0"/>
                <a:ea typeface="Calibri" pitchFamily="34" charset="-122"/>
                <a:cs typeface="Calibri" pitchFamily="34" charset="-120"/>
              </a:rPr>
              <a:t>Incident Types: Delayed · Potentially Lost · Misdelivered · Failed Delivery · Delivery Dispute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Stakeholder Analysis</a:t>
            </a:r>
            <a:endParaRPr lang="en-US" sz="2600" dirty="0"/>
          </a:p>
        </p:txBody>
      </p:sp>
      <p:sp>
        <p:nvSpPr>
          <p:cNvPr id="4" name="Shape 2"/>
          <p:cNvSpPr/>
          <p:nvPr/>
        </p:nvSpPr>
        <p:spPr>
          <a:xfrm>
            <a:off x="457200" y="804672"/>
            <a:ext cx="8229600" cy="36576"/>
          </a:xfrm>
          <a:prstGeom prst="rect">
            <a:avLst/>
          </a:prstGeom>
          <a:solidFill>
            <a:srgbClr val="D0DCE8"/>
          </a:solidFill>
          <a:ln/>
        </p:spPr>
      </p:sp>
      <p:sp>
        <p:nvSpPr>
          <p:cNvPr id="5" name="Shape 3"/>
          <p:cNvSpPr/>
          <p:nvPr/>
        </p:nvSpPr>
        <p:spPr>
          <a:xfrm>
            <a:off x="4069080" y="2240280"/>
            <a:ext cx="1005840" cy="1005840"/>
          </a:xfrm>
          <a:prstGeom prst="ellipse">
            <a:avLst/>
          </a:prstGeom>
          <a:solidFill>
            <a:srgbClr val="1A3A5C"/>
          </a:solidFill>
          <a:ln/>
        </p:spPr>
      </p:sp>
      <p:sp>
        <p:nvSpPr>
          <p:cNvPr id="6" name="Text 4"/>
          <p:cNvSpPr txBox="1"/>
          <p:nvPr/>
        </p:nvSpPr>
        <p:spPr>
          <a:xfrm>
            <a:off x="4069080" y="2240280"/>
            <a:ext cx="1005840" cy="10058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Parcel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Resolve</a:t>
            </a:r>
            <a:endParaRPr lang="en-US" sz="900" dirty="0"/>
          </a:p>
        </p:txBody>
      </p:sp>
      <p:sp>
        <p:nvSpPr>
          <p:cNvPr id="7" name="Shape 5"/>
          <p:cNvSpPr/>
          <p:nvPr/>
        </p:nvSpPr>
        <p:spPr>
          <a:xfrm>
            <a:off x="2696837" y="1636127"/>
            <a:ext cx="1387911" cy="854899"/>
          </a:xfrm>
          <a:prstGeom prst="line">
            <a:avLst/>
          </a:prstGeom>
          <a:noFill/>
          <a:ln w="12700">
            <a:solidFill>
              <a:srgbClr val="AABBD0"/>
            </a:solidFill>
            <a:prstDash val="dash"/>
          </a:ln>
        </p:spPr>
      </p:sp>
      <p:sp>
        <p:nvSpPr>
          <p:cNvPr id="8" name="Shape 6"/>
          <p:cNvSpPr/>
          <p:nvPr/>
        </p:nvSpPr>
        <p:spPr>
          <a:xfrm>
            <a:off x="1188720" y="914400"/>
            <a:ext cx="1554480" cy="960120"/>
          </a:xfrm>
          <a:prstGeom prst="rect">
            <a:avLst/>
          </a:prstGeom>
          <a:solidFill>
            <a:srgbClr val="2E6DA4"/>
          </a:solidFill>
          <a:ln/>
        </p:spPr>
      </p:sp>
      <p:sp>
        <p:nvSpPr>
          <p:cNvPr id="9" name="Text 7"/>
          <p:cNvSpPr txBox="1"/>
          <p:nvPr/>
        </p:nvSpPr>
        <p:spPr>
          <a:xfrm>
            <a:off x="1252728" y="960120"/>
            <a:ext cx="1426464" cy="201168"/>
          </a:xfrm>
          <a:prstGeom prst="rect">
            <a:avLst/>
          </a:prstGeom>
          <a:noFill/>
          <a:ln/>
        </p:spPr>
        <p:txBody>
          <a:bodyPr wrap="square" lIns="0" tIns="0" rIns="0" bIns="0" rtlCol="0" anchor="ctr"/>
          <a:lstStyle/>
          <a:p>
            <a:pPr indent="0" marL="0">
              <a:buNone/>
            </a:pPr>
            <a:r>
              <a:rPr lang="en-US" sz="800" b="1" dirty="0">
                <a:solidFill>
                  <a:srgbClr val="A8C4E0"/>
                </a:solidFill>
                <a:latin typeface="Calibri" pitchFamily="34" charset="0"/>
                <a:ea typeface="Calibri" pitchFamily="34" charset="-122"/>
                <a:cs typeface="Calibri" pitchFamily="34" charset="-120"/>
              </a:rPr>
              <a:t>ST-001</a:t>
            </a:r>
            <a:endParaRPr lang="en-US" sz="800" dirty="0"/>
          </a:p>
        </p:txBody>
      </p:sp>
      <p:sp>
        <p:nvSpPr>
          <p:cNvPr id="10" name="Text 8"/>
          <p:cNvSpPr txBox="1"/>
          <p:nvPr/>
        </p:nvSpPr>
        <p:spPr>
          <a:xfrm>
            <a:off x="1252728" y="1161288"/>
            <a:ext cx="1426464"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Host /</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Organization</a:t>
            </a:r>
            <a:endParaRPr lang="en-US" sz="1050" dirty="0"/>
          </a:p>
        </p:txBody>
      </p:sp>
      <p:sp>
        <p:nvSpPr>
          <p:cNvPr id="11" name="Shape 9"/>
          <p:cNvSpPr/>
          <p:nvPr/>
        </p:nvSpPr>
        <p:spPr>
          <a:xfrm>
            <a:off x="2103120" y="1655064"/>
            <a:ext cx="594360" cy="173736"/>
          </a:xfrm>
          <a:prstGeom prst="rect">
            <a:avLst/>
          </a:prstGeom>
          <a:solidFill>
            <a:srgbClr val="F0A500"/>
          </a:solidFill>
          <a:ln/>
        </p:spPr>
      </p:sp>
      <p:sp>
        <p:nvSpPr>
          <p:cNvPr id="12" name="Text 10"/>
          <p:cNvSpPr txBox="1"/>
          <p:nvPr/>
        </p:nvSpPr>
        <p:spPr>
          <a:xfrm>
            <a:off x="2103120" y="1655064"/>
            <a:ext cx="594360" cy="17373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13" name="Shape 11"/>
          <p:cNvSpPr/>
          <p:nvPr/>
        </p:nvSpPr>
        <p:spPr>
          <a:xfrm>
            <a:off x="6882055" y="1606332"/>
            <a:ext cx="-1807932" cy="915784"/>
          </a:xfrm>
          <a:prstGeom prst="line">
            <a:avLst/>
          </a:prstGeom>
          <a:noFill/>
          <a:ln w="12700">
            <a:solidFill>
              <a:srgbClr val="AABBD0"/>
            </a:solidFill>
            <a:prstDash val="dash"/>
          </a:ln>
        </p:spPr>
      </p:sp>
      <p:sp>
        <p:nvSpPr>
          <p:cNvPr id="14" name="Shape 12"/>
          <p:cNvSpPr/>
          <p:nvPr/>
        </p:nvSpPr>
        <p:spPr>
          <a:xfrm>
            <a:off x="6858000" y="914400"/>
            <a:ext cx="1554480" cy="960120"/>
          </a:xfrm>
          <a:prstGeom prst="rect">
            <a:avLst/>
          </a:prstGeom>
          <a:solidFill>
            <a:srgbClr val="2E6DA4"/>
          </a:solidFill>
          <a:ln/>
        </p:spPr>
      </p:sp>
      <p:sp>
        <p:nvSpPr>
          <p:cNvPr id="15" name="Text 13"/>
          <p:cNvSpPr txBox="1"/>
          <p:nvPr/>
        </p:nvSpPr>
        <p:spPr>
          <a:xfrm>
            <a:off x="6922008" y="960120"/>
            <a:ext cx="1426464" cy="201168"/>
          </a:xfrm>
          <a:prstGeom prst="rect">
            <a:avLst/>
          </a:prstGeom>
          <a:noFill/>
          <a:ln/>
        </p:spPr>
        <p:txBody>
          <a:bodyPr wrap="square" lIns="0" tIns="0" rIns="0" bIns="0" rtlCol="0" anchor="ctr"/>
          <a:lstStyle/>
          <a:p>
            <a:pPr indent="0" marL="0">
              <a:buNone/>
            </a:pPr>
            <a:r>
              <a:rPr lang="en-US" sz="800" b="1" dirty="0">
                <a:solidFill>
                  <a:srgbClr val="A8C4E0"/>
                </a:solidFill>
                <a:latin typeface="Calibri" pitchFamily="34" charset="0"/>
                <a:ea typeface="Calibri" pitchFamily="34" charset="-122"/>
                <a:cs typeface="Calibri" pitchFamily="34" charset="-120"/>
              </a:rPr>
              <a:t>ST-002</a:t>
            </a:r>
            <a:endParaRPr lang="en-US" sz="800" dirty="0"/>
          </a:p>
        </p:txBody>
      </p:sp>
      <p:sp>
        <p:nvSpPr>
          <p:cNvPr id="16" name="Text 14"/>
          <p:cNvSpPr txBox="1"/>
          <p:nvPr/>
        </p:nvSpPr>
        <p:spPr>
          <a:xfrm>
            <a:off x="6922008" y="1161288"/>
            <a:ext cx="1426464"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p>
        </p:txBody>
      </p:sp>
      <p:sp>
        <p:nvSpPr>
          <p:cNvPr id="17" name="Shape 15"/>
          <p:cNvSpPr/>
          <p:nvPr/>
        </p:nvSpPr>
        <p:spPr>
          <a:xfrm>
            <a:off x="7772400" y="1655064"/>
            <a:ext cx="594360" cy="173736"/>
          </a:xfrm>
          <a:prstGeom prst="rect">
            <a:avLst/>
          </a:prstGeom>
          <a:solidFill>
            <a:srgbClr val="F0A500"/>
          </a:solidFill>
          <a:ln/>
        </p:spPr>
      </p:sp>
      <p:sp>
        <p:nvSpPr>
          <p:cNvPr id="18" name="Text 16"/>
          <p:cNvSpPr txBox="1"/>
          <p:nvPr/>
        </p:nvSpPr>
        <p:spPr>
          <a:xfrm>
            <a:off x="7772400" y="1655064"/>
            <a:ext cx="594360" cy="17373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19" name="Shape 17"/>
          <p:cNvSpPr/>
          <p:nvPr/>
        </p:nvSpPr>
        <p:spPr>
          <a:xfrm>
            <a:off x="2712213" y="3733122"/>
            <a:ext cx="1362284" cy="-758627"/>
          </a:xfrm>
          <a:prstGeom prst="line">
            <a:avLst/>
          </a:prstGeom>
          <a:noFill/>
          <a:ln w="12700">
            <a:solidFill>
              <a:srgbClr val="AABBD0"/>
            </a:solidFill>
            <a:prstDash val="dash"/>
          </a:ln>
        </p:spPr>
      </p:sp>
      <p:sp>
        <p:nvSpPr>
          <p:cNvPr id="20" name="Shape 18"/>
          <p:cNvSpPr/>
          <p:nvPr/>
        </p:nvSpPr>
        <p:spPr>
          <a:xfrm>
            <a:off x="1188720" y="3474720"/>
            <a:ext cx="1554480" cy="960120"/>
          </a:xfrm>
          <a:prstGeom prst="rect">
            <a:avLst/>
          </a:prstGeom>
          <a:solidFill>
            <a:srgbClr val="5B8DB5"/>
          </a:solidFill>
          <a:ln/>
        </p:spPr>
      </p:sp>
      <p:sp>
        <p:nvSpPr>
          <p:cNvPr id="21" name="Text 19"/>
          <p:cNvSpPr txBox="1"/>
          <p:nvPr/>
        </p:nvSpPr>
        <p:spPr>
          <a:xfrm>
            <a:off x="1252728" y="3520440"/>
            <a:ext cx="1426464" cy="201168"/>
          </a:xfrm>
          <a:prstGeom prst="rect">
            <a:avLst/>
          </a:prstGeom>
          <a:noFill/>
          <a:ln/>
        </p:spPr>
        <p:txBody>
          <a:bodyPr wrap="square" lIns="0" tIns="0" rIns="0" bIns="0" rtlCol="0" anchor="ctr"/>
          <a:lstStyle/>
          <a:p>
            <a:pPr indent="0" marL="0">
              <a:buNone/>
            </a:pPr>
            <a:r>
              <a:rPr lang="en-US" sz="800" b="1" dirty="0">
                <a:solidFill>
                  <a:srgbClr val="A8C4E0"/>
                </a:solidFill>
                <a:latin typeface="Calibri" pitchFamily="34" charset="0"/>
                <a:ea typeface="Calibri" pitchFamily="34" charset="-122"/>
                <a:cs typeface="Calibri" pitchFamily="34" charset="-120"/>
              </a:rPr>
              <a:t>ST-003</a:t>
            </a:r>
            <a:endParaRPr lang="en-US" sz="800" dirty="0"/>
          </a:p>
        </p:txBody>
      </p:sp>
      <p:sp>
        <p:nvSpPr>
          <p:cNvPr id="22" name="Text 20"/>
          <p:cNvSpPr txBox="1"/>
          <p:nvPr/>
        </p:nvSpPr>
        <p:spPr>
          <a:xfrm>
            <a:off x="1252728" y="3721608"/>
            <a:ext cx="1426464"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External</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Delivery</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Stakeholders</a:t>
            </a:r>
            <a:endParaRPr lang="en-US" sz="1050" dirty="0"/>
          </a:p>
        </p:txBody>
      </p:sp>
      <p:sp>
        <p:nvSpPr>
          <p:cNvPr id="23" name="Shape 21"/>
          <p:cNvSpPr/>
          <p:nvPr/>
        </p:nvSpPr>
        <p:spPr>
          <a:xfrm>
            <a:off x="2103120" y="4215384"/>
            <a:ext cx="594360" cy="173736"/>
          </a:xfrm>
          <a:prstGeom prst="rect">
            <a:avLst/>
          </a:prstGeom>
          <a:solidFill>
            <a:srgbClr val="5B9BD5"/>
          </a:solidFill>
          <a:ln/>
        </p:spPr>
      </p:sp>
      <p:sp>
        <p:nvSpPr>
          <p:cNvPr id="24" name="Text 22"/>
          <p:cNvSpPr txBox="1"/>
          <p:nvPr/>
        </p:nvSpPr>
        <p:spPr>
          <a:xfrm>
            <a:off x="2103120" y="4215384"/>
            <a:ext cx="594360" cy="17373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Medium</a:t>
            </a:r>
            <a:endParaRPr lang="en-US" sz="750" dirty="0"/>
          </a:p>
        </p:txBody>
      </p:sp>
      <p:sp>
        <p:nvSpPr>
          <p:cNvPr id="25" name="Shape 23"/>
          <p:cNvSpPr/>
          <p:nvPr/>
        </p:nvSpPr>
        <p:spPr>
          <a:xfrm>
            <a:off x="6869965" y="3761399"/>
            <a:ext cx="-1787782" cy="-816410"/>
          </a:xfrm>
          <a:prstGeom prst="line">
            <a:avLst/>
          </a:prstGeom>
          <a:noFill/>
          <a:ln w="12700">
            <a:solidFill>
              <a:srgbClr val="AABBD0"/>
            </a:solidFill>
            <a:prstDash val="dash"/>
          </a:ln>
        </p:spPr>
      </p:sp>
      <p:sp>
        <p:nvSpPr>
          <p:cNvPr id="26" name="Shape 24"/>
          <p:cNvSpPr/>
          <p:nvPr/>
        </p:nvSpPr>
        <p:spPr>
          <a:xfrm>
            <a:off x="6858000" y="3474720"/>
            <a:ext cx="1554480" cy="960120"/>
          </a:xfrm>
          <a:prstGeom prst="rect">
            <a:avLst/>
          </a:prstGeom>
          <a:solidFill>
            <a:srgbClr val="2E6DA4"/>
          </a:solidFill>
          <a:ln/>
        </p:spPr>
      </p:sp>
      <p:sp>
        <p:nvSpPr>
          <p:cNvPr id="27" name="Text 25"/>
          <p:cNvSpPr txBox="1"/>
          <p:nvPr/>
        </p:nvSpPr>
        <p:spPr>
          <a:xfrm>
            <a:off x="6922008" y="3520440"/>
            <a:ext cx="1426464" cy="201168"/>
          </a:xfrm>
          <a:prstGeom prst="rect">
            <a:avLst/>
          </a:prstGeom>
          <a:noFill/>
          <a:ln/>
        </p:spPr>
        <p:txBody>
          <a:bodyPr wrap="square" lIns="0" tIns="0" rIns="0" bIns="0" rtlCol="0" anchor="ctr"/>
          <a:lstStyle/>
          <a:p>
            <a:pPr indent="0" marL="0">
              <a:buNone/>
            </a:pPr>
            <a:r>
              <a:rPr lang="en-US" sz="800" b="1" dirty="0">
                <a:solidFill>
                  <a:srgbClr val="A8C4E0"/>
                </a:solidFill>
                <a:latin typeface="Calibri" pitchFamily="34" charset="0"/>
                <a:ea typeface="Calibri" pitchFamily="34" charset="-122"/>
                <a:cs typeface="Calibri" pitchFamily="34" charset="-120"/>
              </a:rPr>
              <a:t>ST-004</a:t>
            </a:r>
            <a:endParaRPr lang="en-US" sz="800" dirty="0"/>
          </a:p>
        </p:txBody>
      </p:sp>
      <p:sp>
        <p:nvSpPr>
          <p:cNvPr id="28" name="Text 26"/>
          <p:cNvSpPr txBox="1"/>
          <p:nvPr/>
        </p:nvSpPr>
        <p:spPr>
          <a:xfrm>
            <a:off x="6922008" y="3721608"/>
            <a:ext cx="1426464"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Operational</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p:txBody>
      </p:sp>
      <p:sp>
        <p:nvSpPr>
          <p:cNvPr id="29" name="Shape 27"/>
          <p:cNvSpPr/>
          <p:nvPr/>
        </p:nvSpPr>
        <p:spPr>
          <a:xfrm>
            <a:off x="7772400" y="4215384"/>
            <a:ext cx="594360" cy="173736"/>
          </a:xfrm>
          <a:prstGeom prst="rect">
            <a:avLst/>
          </a:prstGeom>
          <a:solidFill>
            <a:srgbClr val="F0A500"/>
          </a:solidFill>
          <a:ln/>
        </p:spPr>
      </p:sp>
      <p:sp>
        <p:nvSpPr>
          <p:cNvPr id="30" name="Text 28"/>
          <p:cNvSpPr txBox="1"/>
          <p:nvPr/>
        </p:nvSpPr>
        <p:spPr>
          <a:xfrm>
            <a:off x="7772400" y="4215384"/>
            <a:ext cx="594360" cy="17373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1" name="Shape 29"/>
          <p:cNvSpPr/>
          <p:nvPr/>
        </p:nvSpPr>
        <p:spPr>
          <a:xfrm>
            <a:off x="4572000" y="4160520"/>
            <a:ext cx="0" cy="-868680"/>
          </a:xfrm>
          <a:prstGeom prst="line">
            <a:avLst/>
          </a:prstGeom>
          <a:noFill/>
          <a:ln w="12700">
            <a:solidFill>
              <a:srgbClr val="AABBD0"/>
            </a:solidFill>
            <a:prstDash val="dash"/>
          </a:ln>
        </p:spPr>
      </p:sp>
      <p:sp>
        <p:nvSpPr>
          <p:cNvPr id="32" name="Shape 30"/>
          <p:cNvSpPr/>
          <p:nvPr/>
        </p:nvSpPr>
        <p:spPr>
          <a:xfrm>
            <a:off x="3794760" y="4206240"/>
            <a:ext cx="1554480" cy="960120"/>
          </a:xfrm>
          <a:prstGeom prst="rect">
            <a:avLst/>
          </a:prstGeom>
          <a:solidFill>
            <a:srgbClr val="1E5C8A"/>
          </a:solidFill>
          <a:ln/>
        </p:spPr>
      </p:sp>
      <p:sp>
        <p:nvSpPr>
          <p:cNvPr id="33" name="Text 31"/>
          <p:cNvSpPr txBox="1"/>
          <p:nvPr/>
        </p:nvSpPr>
        <p:spPr>
          <a:xfrm>
            <a:off x="3858768" y="4251960"/>
            <a:ext cx="1426464" cy="201168"/>
          </a:xfrm>
          <a:prstGeom prst="rect">
            <a:avLst/>
          </a:prstGeom>
          <a:noFill/>
          <a:ln/>
        </p:spPr>
        <p:txBody>
          <a:bodyPr wrap="square" lIns="0" tIns="0" rIns="0" bIns="0" rtlCol="0" anchor="ctr"/>
          <a:lstStyle/>
          <a:p>
            <a:pPr indent="0" marL="0">
              <a:buNone/>
            </a:pPr>
            <a:r>
              <a:rPr lang="en-US" sz="800" b="1" dirty="0">
                <a:solidFill>
                  <a:srgbClr val="A8C4E0"/>
                </a:solidFill>
                <a:latin typeface="Calibri" pitchFamily="34" charset="0"/>
                <a:ea typeface="Calibri" pitchFamily="34" charset="-122"/>
                <a:cs typeface="Calibri" pitchFamily="34" charset="-120"/>
              </a:rPr>
              <a:t>ST-005</a:t>
            </a:r>
            <a:endParaRPr lang="en-US" sz="800" dirty="0"/>
          </a:p>
        </p:txBody>
      </p:sp>
      <p:sp>
        <p:nvSpPr>
          <p:cNvPr id="34" name="Text 32"/>
          <p:cNvSpPr txBox="1"/>
          <p:nvPr/>
        </p:nvSpPr>
        <p:spPr>
          <a:xfrm>
            <a:off x="3858768" y="4453128"/>
            <a:ext cx="1426464"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IT /</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Integration</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Team</a:t>
            </a:r>
            <a:endParaRPr lang="en-US" sz="1050" dirty="0"/>
          </a:p>
        </p:txBody>
      </p:sp>
      <p:sp>
        <p:nvSpPr>
          <p:cNvPr id="35" name="Shape 33"/>
          <p:cNvSpPr/>
          <p:nvPr/>
        </p:nvSpPr>
        <p:spPr>
          <a:xfrm>
            <a:off x="4709160" y="4946904"/>
            <a:ext cx="594360" cy="173736"/>
          </a:xfrm>
          <a:prstGeom prst="rect">
            <a:avLst/>
          </a:prstGeom>
          <a:solidFill>
            <a:srgbClr val="F0A500"/>
          </a:solidFill>
          <a:ln/>
        </p:spPr>
      </p:sp>
      <p:sp>
        <p:nvSpPr>
          <p:cNvPr id="36" name="Text 34"/>
          <p:cNvSpPr txBox="1"/>
          <p:nvPr/>
        </p:nvSpPr>
        <p:spPr>
          <a:xfrm>
            <a:off x="4709160" y="4946904"/>
            <a:ext cx="594360" cy="17373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Tool-Supported Analysis (Claude AI)</a:t>
            </a:r>
            <a:endParaRPr lang="en-US" sz="2600" dirty="0"/>
          </a:p>
        </p:txBody>
      </p:sp>
      <p:sp>
        <p:nvSpPr>
          <p:cNvPr id="4" name="Shape 2"/>
          <p:cNvSpPr/>
          <p:nvPr/>
        </p:nvSpPr>
        <p:spPr>
          <a:xfrm>
            <a:off x="457200" y="804672"/>
            <a:ext cx="8229600" cy="36576"/>
          </a:xfrm>
          <a:prstGeom prst="rect">
            <a:avLst/>
          </a:prstGeom>
          <a:solidFill>
            <a:srgbClr val="D0DCE8"/>
          </a:solidFill>
          <a:ln/>
        </p:spPr>
      </p:sp>
      <p:sp>
        <p:nvSpPr>
          <p:cNvPr id="5" name="Shape 3"/>
          <p:cNvSpPr/>
          <p:nvPr/>
        </p:nvSpPr>
        <p:spPr>
          <a:xfrm>
            <a:off x="365760" y="987552"/>
            <a:ext cx="4114800" cy="1143000"/>
          </a:xfrm>
          <a:prstGeom prst="rect">
            <a:avLst/>
          </a:prstGeom>
          <a:solidFill>
            <a:srgbClr val="E8F5E9"/>
          </a:solidFill>
          <a:ln w="12700">
            <a:solidFill>
              <a:srgbClr val="2E7D32"/>
            </a:solidFill>
            <a:prstDash val="solid"/>
          </a:ln>
        </p:spPr>
      </p:sp>
      <p:sp>
        <p:nvSpPr>
          <p:cNvPr id="6" name="Text 4"/>
          <p:cNvSpPr txBox="1"/>
          <p:nvPr/>
        </p:nvSpPr>
        <p:spPr>
          <a:xfrm>
            <a:off x="475488" y="1060704"/>
            <a:ext cx="3337560" cy="274320"/>
          </a:xfrm>
          <a:prstGeom prst="rect">
            <a:avLst/>
          </a:prstGeom>
          <a:noFill/>
          <a:ln/>
        </p:spPr>
        <p:txBody>
          <a:bodyPr wrap="square" lIns="0" tIns="0" rIns="0" bIns="0" rtlCol="0" anchor="ctr"/>
          <a:lstStyle/>
          <a:p>
            <a:pPr indent="0" marL="0">
              <a:buNone/>
            </a:pPr>
            <a:r>
              <a:rPr lang="en-US" sz="1100" b="1" dirty="0">
                <a:solidFill>
                  <a:srgbClr val="1A3A5C"/>
                </a:solidFill>
                <a:latin typeface="Calibri" pitchFamily="34" charset="0"/>
                <a:ea typeface="Calibri" pitchFamily="34" charset="-122"/>
                <a:cs typeface="Calibri" pitchFamily="34" charset="-120"/>
              </a:rPr>
              <a:t>[T-01]  Sender vs. Recipient Distinction</a:t>
            </a:r>
            <a:endParaRPr lang="en-US" sz="1100" dirty="0"/>
          </a:p>
        </p:txBody>
      </p:sp>
      <p:sp>
        <p:nvSpPr>
          <p:cNvPr id="7" name="Shape 5"/>
          <p:cNvSpPr/>
          <p:nvPr/>
        </p:nvSpPr>
        <p:spPr>
          <a:xfrm>
            <a:off x="3794760" y="1060704"/>
            <a:ext cx="640080" cy="228600"/>
          </a:xfrm>
          <a:prstGeom prst="rect">
            <a:avLst/>
          </a:prstGeom>
          <a:solidFill>
            <a:srgbClr val="2E7D32"/>
          </a:solidFill>
          <a:ln/>
        </p:spPr>
      </p:sp>
      <p:sp>
        <p:nvSpPr>
          <p:cNvPr id="8" name="Text 6"/>
          <p:cNvSpPr txBox="1"/>
          <p:nvPr/>
        </p:nvSpPr>
        <p:spPr>
          <a:xfrm>
            <a:off x="3794760" y="1060704"/>
            <a:ext cx="6400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Modified</a:t>
            </a:r>
            <a:endParaRPr lang="en-US" sz="750" dirty="0"/>
          </a:p>
        </p:txBody>
      </p:sp>
      <p:sp>
        <p:nvSpPr>
          <p:cNvPr id="9" name="Text 7"/>
          <p:cNvSpPr txBox="1"/>
          <p:nvPr/>
        </p:nvSpPr>
        <p:spPr>
          <a:xfrm>
            <a:off x="475488" y="1380744"/>
            <a:ext cx="3895344"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Split into distinct roles within ST-003; both share high-level goal but differ in information position.</a:t>
            </a:r>
            <a:endParaRPr lang="en-US" sz="1000" dirty="0"/>
          </a:p>
        </p:txBody>
      </p:sp>
      <p:sp>
        <p:nvSpPr>
          <p:cNvPr id="10" name="Shape 8"/>
          <p:cNvSpPr/>
          <p:nvPr/>
        </p:nvSpPr>
        <p:spPr>
          <a:xfrm>
            <a:off x="4800600" y="987552"/>
            <a:ext cx="4114800" cy="1143000"/>
          </a:xfrm>
          <a:prstGeom prst="rect">
            <a:avLst/>
          </a:prstGeom>
          <a:solidFill>
            <a:srgbClr val="E3F2FD"/>
          </a:solidFill>
          <a:ln w="12700">
            <a:solidFill>
              <a:srgbClr val="1565C0"/>
            </a:solidFill>
            <a:prstDash val="solid"/>
          </a:ln>
        </p:spPr>
      </p:sp>
      <p:sp>
        <p:nvSpPr>
          <p:cNvPr id="11" name="Text 9"/>
          <p:cNvSpPr txBox="1"/>
          <p:nvPr/>
        </p:nvSpPr>
        <p:spPr>
          <a:xfrm>
            <a:off x="4910328" y="1060704"/>
            <a:ext cx="3337560" cy="274320"/>
          </a:xfrm>
          <a:prstGeom prst="rect">
            <a:avLst/>
          </a:prstGeom>
          <a:noFill/>
          <a:ln/>
        </p:spPr>
        <p:txBody>
          <a:bodyPr wrap="square" lIns="0" tIns="0" rIns="0" bIns="0" rtlCol="0" anchor="ctr"/>
          <a:lstStyle/>
          <a:p>
            <a:pPr indent="0" marL="0">
              <a:buNone/>
            </a:pPr>
            <a:r>
              <a:rPr lang="en-US" sz="1100" b="1" dirty="0">
                <a:solidFill>
                  <a:srgbClr val="1A3A5C"/>
                </a:solidFill>
                <a:latin typeface="Calibri" pitchFamily="34" charset="0"/>
                <a:ea typeface="Calibri" pitchFamily="34" charset="-122"/>
                <a:cs typeface="Calibri" pitchFamily="34" charset="-120"/>
              </a:rPr>
              <a:t>[T-02]  Evidence Capture for Disputes</a:t>
            </a:r>
            <a:endParaRPr lang="en-US" sz="1100" dirty="0"/>
          </a:p>
        </p:txBody>
      </p:sp>
      <p:sp>
        <p:nvSpPr>
          <p:cNvPr id="12" name="Shape 10"/>
          <p:cNvSpPr/>
          <p:nvPr/>
        </p:nvSpPr>
        <p:spPr>
          <a:xfrm>
            <a:off x="8229600" y="1060704"/>
            <a:ext cx="640080" cy="228600"/>
          </a:xfrm>
          <a:prstGeom prst="rect">
            <a:avLst/>
          </a:prstGeom>
          <a:solidFill>
            <a:srgbClr val="1565C0"/>
          </a:solidFill>
          <a:ln/>
        </p:spPr>
      </p:sp>
      <p:sp>
        <p:nvSpPr>
          <p:cNvPr id="13" name="Text 11"/>
          <p:cNvSpPr txBox="1"/>
          <p:nvPr/>
        </p:nvSpPr>
        <p:spPr>
          <a:xfrm>
            <a:off x="8229600" y="1060704"/>
            <a:ext cx="6400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Accepted</a:t>
            </a:r>
            <a:endParaRPr lang="en-US" sz="750" dirty="0"/>
          </a:p>
        </p:txBody>
      </p:sp>
      <p:sp>
        <p:nvSpPr>
          <p:cNvPr id="14" name="Text 12"/>
          <p:cNvSpPr txBox="1"/>
          <p:nvPr/>
        </p:nvSpPr>
        <p:spPr>
          <a:xfrm>
            <a:off x="4910328" y="1380744"/>
            <a:ext cx="3895344"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Added "Evidence capture and retrieval" as an explicit in-scope capability for delivery disputes.</a:t>
            </a:r>
            <a:endParaRPr lang="en-US" sz="1000" dirty="0"/>
          </a:p>
        </p:txBody>
      </p:sp>
      <p:sp>
        <p:nvSpPr>
          <p:cNvPr id="15" name="Shape 13"/>
          <p:cNvSpPr/>
          <p:nvPr/>
        </p:nvSpPr>
        <p:spPr>
          <a:xfrm>
            <a:off x="365760" y="2267712"/>
            <a:ext cx="4114800" cy="1143000"/>
          </a:xfrm>
          <a:prstGeom prst="rect">
            <a:avLst/>
          </a:prstGeom>
          <a:solidFill>
            <a:srgbClr val="FFF3E0"/>
          </a:solidFill>
          <a:ln w="12700">
            <a:solidFill>
              <a:srgbClr val="E65100"/>
            </a:solidFill>
            <a:prstDash val="solid"/>
          </a:ln>
        </p:spPr>
      </p:sp>
      <p:sp>
        <p:nvSpPr>
          <p:cNvPr id="16" name="Text 14"/>
          <p:cNvSpPr txBox="1"/>
          <p:nvPr/>
        </p:nvSpPr>
        <p:spPr>
          <a:xfrm>
            <a:off x="475488" y="2340864"/>
            <a:ext cx="3337560" cy="274320"/>
          </a:xfrm>
          <a:prstGeom prst="rect">
            <a:avLst/>
          </a:prstGeom>
          <a:noFill/>
          <a:ln/>
        </p:spPr>
        <p:txBody>
          <a:bodyPr wrap="square" lIns="0" tIns="0" rIns="0" bIns="0" rtlCol="0" anchor="ctr"/>
          <a:lstStyle/>
          <a:p>
            <a:pPr indent="0" marL="0">
              <a:buNone/>
            </a:pPr>
            <a:r>
              <a:rPr lang="en-US" sz="1100" b="1" dirty="0">
                <a:solidFill>
                  <a:srgbClr val="1A3A5C"/>
                </a:solidFill>
                <a:latin typeface="Calibri" pitchFamily="34" charset="0"/>
                <a:ea typeface="Calibri" pitchFamily="34" charset="-122"/>
                <a:cs typeface="Calibri" pitchFamily="34" charset="-120"/>
              </a:rPr>
              <a:t>[T-03]  Compensation / Refund Workflow</a:t>
            </a:r>
            <a:endParaRPr lang="en-US" sz="1100" dirty="0"/>
          </a:p>
        </p:txBody>
      </p:sp>
      <p:sp>
        <p:nvSpPr>
          <p:cNvPr id="17" name="Shape 15"/>
          <p:cNvSpPr/>
          <p:nvPr/>
        </p:nvSpPr>
        <p:spPr>
          <a:xfrm>
            <a:off x="3794760" y="2340864"/>
            <a:ext cx="640080" cy="228600"/>
          </a:xfrm>
          <a:prstGeom prst="rect">
            <a:avLst/>
          </a:prstGeom>
          <a:solidFill>
            <a:srgbClr val="E65100"/>
          </a:solidFill>
          <a:ln/>
        </p:spPr>
      </p:sp>
      <p:sp>
        <p:nvSpPr>
          <p:cNvPr id="18" name="Text 16"/>
          <p:cNvSpPr txBox="1"/>
          <p:nvPr/>
        </p:nvSpPr>
        <p:spPr>
          <a:xfrm>
            <a:off x="3794760" y="2340864"/>
            <a:ext cx="6400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Deferred</a:t>
            </a:r>
            <a:endParaRPr lang="en-US" sz="750" dirty="0"/>
          </a:p>
        </p:txBody>
      </p:sp>
      <p:sp>
        <p:nvSpPr>
          <p:cNvPr id="19" name="Text 17"/>
          <p:cNvSpPr txBox="1"/>
          <p:nvPr/>
        </p:nvSpPr>
        <p:spPr>
          <a:xfrm>
            <a:off x="475488" y="2660904"/>
            <a:ext cx="3895344"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Involves financial auth and payment systems currently out of scope; revisit later.</a:t>
            </a:r>
            <a:endParaRPr lang="en-US" sz="1000" dirty="0"/>
          </a:p>
        </p:txBody>
      </p:sp>
      <p:sp>
        <p:nvSpPr>
          <p:cNvPr id="20" name="Shape 18"/>
          <p:cNvSpPr/>
          <p:nvPr/>
        </p:nvSpPr>
        <p:spPr>
          <a:xfrm>
            <a:off x="4800600" y="2267712"/>
            <a:ext cx="4114800" cy="1143000"/>
          </a:xfrm>
          <a:prstGeom prst="rect">
            <a:avLst/>
          </a:prstGeom>
          <a:solidFill>
            <a:srgbClr val="E8F5E9"/>
          </a:solidFill>
          <a:ln w="12700">
            <a:solidFill>
              <a:srgbClr val="2E7D32"/>
            </a:solidFill>
            <a:prstDash val="solid"/>
          </a:ln>
        </p:spPr>
      </p:sp>
      <p:sp>
        <p:nvSpPr>
          <p:cNvPr id="21" name="Text 19"/>
          <p:cNvSpPr txBox="1"/>
          <p:nvPr/>
        </p:nvSpPr>
        <p:spPr>
          <a:xfrm>
            <a:off x="4910328" y="2340864"/>
            <a:ext cx="3337560" cy="274320"/>
          </a:xfrm>
          <a:prstGeom prst="rect">
            <a:avLst/>
          </a:prstGeom>
          <a:noFill/>
          <a:ln/>
        </p:spPr>
        <p:txBody>
          <a:bodyPr wrap="square" lIns="0" tIns="0" rIns="0" bIns="0" rtlCol="0" anchor="ctr"/>
          <a:lstStyle/>
          <a:p>
            <a:pPr indent="0" marL="0">
              <a:buNone/>
            </a:pPr>
            <a:r>
              <a:rPr lang="en-US" sz="1100" b="1" dirty="0">
                <a:solidFill>
                  <a:srgbClr val="1A3A5C"/>
                </a:solidFill>
                <a:latin typeface="Calibri" pitchFamily="34" charset="0"/>
                <a:ea typeface="Calibri" pitchFamily="34" charset="-122"/>
                <a:cs typeface="Calibri" pitchFamily="34" charset="-120"/>
              </a:rPr>
              <a:t>[T-04]  GDPR / Data Protection</a:t>
            </a:r>
            <a:endParaRPr lang="en-US" sz="1100" dirty="0"/>
          </a:p>
        </p:txBody>
      </p:sp>
      <p:sp>
        <p:nvSpPr>
          <p:cNvPr id="22" name="Shape 20"/>
          <p:cNvSpPr/>
          <p:nvPr/>
        </p:nvSpPr>
        <p:spPr>
          <a:xfrm>
            <a:off x="8229600" y="2340864"/>
            <a:ext cx="640080" cy="228600"/>
          </a:xfrm>
          <a:prstGeom prst="rect">
            <a:avLst/>
          </a:prstGeom>
          <a:solidFill>
            <a:srgbClr val="2E7D32"/>
          </a:solidFill>
          <a:ln/>
        </p:spPr>
      </p:sp>
      <p:sp>
        <p:nvSpPr>
          <p:cNvPr id="23" name="Text 21"/>
          <p:cNvSpPr txBox="1"/>
          <p:nvPr/>
        </p:nvSpPr>
        <p:spPr>
          <a:xfrm>
            <a:off x="8229600" y="2340864"/>
            <a:ext cx="6400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Modified</a:t>
            </a:r>
            <a:endParaRPr lang="en-US" sz="750" dirty="0"/>
          </a:p>
        </p:txBody>
      </p:sp>
      <p:sp>
        <p:nvSpPr>
          <p:cNvPr id="24" name="Text 22"/>
          <p:cNvSpPr txBox="1"/>
          <p:nvPr/>
        </p:nvSpPr>
        <p:spPr>
          <a:xfrm>
            <a:off x="4910328" y="2660904"/>
            <a:ext cx="3895344"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No separate compliance stakeholder; GDPR made explicit concern for Host Org and IT Team.</a:t>
            </a:r>
            <a:endParaRPr lang="en-US" sz="1000" dirty="0"/>
          </a:p>
        </p:txBody>
      </p:sp>
      <p:sp>
        <p:nvSpPr>
          <p:cNvPr id="25" name="Shape 23"/>
          <p:cNvSpPr/>
          <p:nvPr/>
        </p:nvSpPr>
        <p:spPr>
          <a:xfrm>
            <a:off x="365760" y="3547872"/>
            <a:ext cx="4114800" cy="1143000"/>
          </a:xfrm>
          <a:prstGeom prst="rect">
            <a:avLst/>
          </a:prstGeom>
          <a:solidFill>
            <a:srgbClr val="FFF3E0"/>
          </a:solidFill>
          <a:ln w="12700">
            <a:solidFill>
              <a:srgbClr val="E65100"/>
            </a:solidFill>
            <a:prstDash val="solid"/>
          </a:ln>
        </p:spPr>
      </p:sp>
      <p:sp>
        <p:nvSpPr>
          <p:cNvPr id="26" name="Text 24"/>
          <p:cNvSpPr txBox="1"/>
          <p:nvPr/>
        </p:nvSpPr>
        <p:spPr>
          <a:xfrm>
            <a:off x="475488" y="3621024"/>
            <a:ext cx="3337560" cy="274320"/>
          </a:xfrm>
          <a:prstGeom prst="rect">
            <a:avLst/>
          </a:prstGeom>
          <a:noFill/>
          <a:ln/>
        </p:spPr>
        <p:txBody>
          <a:bodyPr wrap="square" lIns="0" tIns="0" rIns="0" bIns="0" rtlCol="0" anchor="ctr"/>
          <a:lstStyle/>
          <a:p>
            <a:pPr indent="0" marL="0">
              <a:buNone/>
            </a:pPr>
            <a:r>
              <a:rPr lang="en-US" sz="1100" b="1" dirty="0">
                <a:solidFill>
                  <a:srgbClr val="1A3A5C"/>
                </a:solidFill>
                <a:latin typeface="Calibri" pitchFamily="34" charset="0"/>
                <a:ea typeface="Calibri" pitchFamily="34" charset="-122"/>
                <a:cs typeface="Calibri" pitchFamily="34" charset="-120"/>
              </a:rPr>
              <a:t>[T-05]  Measurable Success Criteria</a:t>
            </a:r>
            <a:endParaRPr lang="en-US" sz="1100" dirty="0"/>
          </a:p>
        </p:txBody>
      </p:sp>
      <p:sp>
        <p:nvSpPr>
          <p:cNvPr id="27" name="Shape 25"/>
          <p:cNvSpPr/>
          <p:nvPr/>
        </p:nvSpPr>
        <p:spPr>
          <a:xfrm>
            <a:off x="3794760" y="3621024"/>
            <a:ext cx="640080" cy="228600"/>
          </a:xfrm>
          <a:prstGeom prst="rect">
            <a:avLst/>
          </a:prstGeom>
          <a:solidFill>
            <a:srgbClr val="E65100"/>
          </a:solidFill>
          <a:ln/>
        </p:spPr>
      </p:sp>
      <p:sp>
        <p:nvSpPr>
          <p:cNvPr id="28" name="Text 26"/>
          <p:cNvSpPr txBox="1"/>
          <p:nvPr/>
        </p:nvSpPr>
        <p:spPr>
          <a:xfrm>
            <a:off x="3794760" y="3621024"/>
            <a:ext cx="6400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Deferred</a:t>
            </a:r>
            <a:endParaRPr lang="en-US" sz="750" dirty="0"/>
          </a:p>
        </p:txBody>
      </p:sp>
      <p:sp>
        <p:nvSpPr>
          <p:cNvPr id="29" name="Text 27"/>
          <p:cNvSpPr txBox="1"/>
          <p:nvPr/>
        </p:nvSpPr>
        <p:spPr>
          <a:xfrm>
            <a:off x="475488" y="3941064"/>
            <a:ext cx="3895344"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Baselines (MTTR, FCR rate) require operational data not yet available.</a:t>
            </a:r>
            <a:endParaRPr lang="en-US" sz="1000" dirty="0"/>
          </a:p>
        </p:txBody>
      </p:sp>
      <p:sp>
        <p:nvSpPr>
          <p:cNvPr id="30" name="Shape 28"/>
          <p:cNvSpPr/>
          <p:nvPr/>
        </p:nvSpPr>
        <p:spPr>
          <a:xfrm>
            <a:off x="4800600" y="3547872"/>
            <a:ext cx="4114800" cy="1143000"/>
          </a:xfrm>
          <a:prstGeom prst="rect">
            <a:avLst/>
          </a:prstGeom>
          <a:solidFill>
            <a:srgbClr val="FFEBEE"/>
          </a:solidFill>
          <a:ln w="12700">
            <a:solidFill>
              <a:srgbClr val="B71C1C"/>
            </a:solidFill>
            <a:prstDash val="solid"/>
          </a:ln>
        </p:spPr>
      </p:sp>
      <p:sp>
        <p:nvSpPr>
          <p:cNvPr id="31" name="Text 29"/>
          <p:cNvSpPr txBox="1"/>
          <p:nvPr/>
        </p:nvSpPr>
        <p:spPr>
          <a:xfrm>
            <a:off x="4910328" y="3621024"/>
            <a:ext cx="3337560" cy="274320"/>
          </a:xfrm>
          <a:prstGeom prst="rect">
            <a:avLst/>
          </a:prstGeom>
          <a:noFill/>
          <a:ln/>
        </p:spPr>
        <p:txBody>
          <a:bodyPr wrap="square" lIns="0" tIns="0" rIns="0" bIns="0" rtlCol="0" anchor="ctr"/>
          <a:lstStyle/>
          <a:p>
            <a:pPr indent="0" marL="0">
              <a:buNone/>
            </a:pPr>
            <a:r>
              <a:rPr lang="en-US" sz="1100" b="1" dirty="0">
                <a:solidFill>
                  <a:srgbClr val="1A3A5C"/>
                </a:solidFill>
                <a:latin typeface="Calibri" pitchFamily="34" charset="0"/>
                <a:ea typeface="Calibri" pitchFamily="34" charset="-122"/>
                <a:cs typeface="Calibri" pitchFamily="34" charset="-120"/>
              </a:rPr>
              <a:t>[T-06]  Damaged Parcel Gap</a:t>
            </a:r>
            <a:endParaRPr lang="en-US" sz="1100" dirty="0"/>
          </a:p>
        </p:txBody>
      </p:sp>
      <p:sp>
        <p:nvSpPr>
          <p:cNvPr id="32" name="Shape 30"/>
          <p:cNvSpPr/>
          <p:nvPr/>
        </p:nvSpPr>
        <p:spPr>
          <a:xfrm>
            <a:off x="8229600" y="3621024"/>
            <a:ext cx="640080" cy="228600"/>
          </a:xfrm>
          <a:prstGeom prst="rect">
            <a:avLst/>
          </a:prstGeom>
          <a:solidFill>
            <a:srgbClr val="B71C1C"/>
          </a:solidFill>
          <a:ln/>
        </p:spPr>
      </p:sp>
      <p:sp>
        <p:nvSpPr>
          <p:cNvPr id="33" name="Text 31"/>
          <p:cNvSpPr txBox="1"/>
          <p:nvPr/>
        </p:nvSpPr>
        <p:spPr>
          <a:xfrm>
            <a:off x="8229600" y="3621024"/>
            <a:ext cx="640080" cy="22860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Rejected</a:t>
            </a:r>
            <a:endParaRPr lang="en-US" sz="750" dirty="0"/>
          </a:p>
        </p:txBody>
      </p:sp>
      <p:sp>
        <p:nvSpPr>
          <p:cNvPr id="34" name="Text 32"/>
          <p:cNvSpPr txBox="1"/>
          <p:nvPr/>
        </p:nvSpPr>
        <p:spPr>
          <a:xfrm>
            <a:off x="4910328" y="3941064"/>
            <a:ext cx="3895344" cy="65836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Kept out of initial scope; mixed incidents escalate to human operational users.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Takeaways</a:t>
            </a:r>
            <a:endParaRPr lang="en-US" sz="2600" dirty="0"/>
          </a:p>
        </p:txBody>
      </p:sp>
      <p:sp>
        <p:nvSpPr>
          <p:cNvPr id="4" name="Shape 2"/>
          <p:cNvSpPr/>
          <p:nvPr/>
        </p:nvSpPr>
        <p:spPr>
          <a:xfrm>
            <a:off x="457200" y="804672"/>
            <a:ext cx="8229600" cy="36576"/>
          </a:xfrm>
          <a:prstGeom prst="rect">
            <a:avLst/>
          </a:prstGeom>
          <a:solidFill>
            <a:srgbClr val="AABBCC"/>
          </a:solidFill>
          <a:ln/>
        </p:spPr>
      </p:sp>
      <p:sp>
        <p:nvSpPr>
          <p:cNvPr id="5" name="Shape 3"/>
          <p:cNvSpPr/>
          <p:nvPr/>
        </p:nvSpPr>
        <p:spPr>
          <a:xfrm>
            <a:off x="457200" y="1005840"/>
            <a:ext cx="8229600" cy="685800"/>
          </a:xfrm>
          <a:prstGeom prst="rect">
            <a:avLst/>
          </a:prstGeom>
          <a:solidFill>
            <a:srgbClr val="1E3F60"/>
          </a:solidFill>
          <a:ln/>
        </p:spPr>
      </p:sp>
      <p:sp>
        <p:nvSpPr>
          <p:cNvPr id="6" name="Shape 4"/>
          <p:cNvSpPr/>
          <p:nvPr/>
        </p:nvSpPr>
        <p:spPr>
          <a:xfrm>
            <a:off x="457200" y="1005840"/>
            <a:ext cx="73152" cy="685800"/>
          </a:xfrm>
          <a:prstGeom prst="rect">
            <a:avLst/>
          </a:prstGeom>
          <a:solidFill>
            <a:srgbClr val="F0A500"/>
          </a:solidFill>
          <a:ln/>
        </p:spPr>
      </p:sp>
      <p:sp>
        <p:nvSpPr>
          <p:cNvPr id="7" name="Text 5"/>
          <p:cNvSpPr txBox="1"/>
          <p:nvPr/>
        </p:nvSpPr>
        <p:spPr>
          <a:xfrm>
            <a:off x="658368" y="1060704"/>
            <a:ext cx="7863840" cy="228600"/>
          </a:xfrm>
          <a:prstGeom prst="rect">
            <a:avLst/>
          </a:prstGeom>
          <a:noFill/>
          <a:ln/>
        </p:spPr>
        <p:txBody>
          <a:bodyPr wrap="square" lIns="0" tIns="0" rIns="0" bIns="0" rtlCol="0" anchor="ctr"/>
          <a:lstStyle/>
          <a:p>
            <a:pPr indent="0" marL="0">
              <a:buNone/>
            </a:pPr>
            <a:r>
              <a:rPr lang="en-US" sz="1200" b="1" dirty="0">
                <a:solidFill>
                  <a:srgbClr val="F0A500"/>
                </a:solidFill>
                <a:latin typeface="Calibri" pitchFamily="34" charset="0"/>
                <a:ea typeface="Calibri" pitchFamily="34" charset="-122"/>
                <a:cs typeface="Calibri" pitchFamily="34" charset="-120"/>
              </a:rPr>
              <a:t>Scope is bounded</a:t>
            </a:r>
            <a:endParaRPr lang="en-US" sz="1200" dirty="0"/>
          </a:p>
        </p:txBody>
      </p:sp>
      <p:sp>
        <p:nvSpPr>
          <p:cNvPr id="8" name="Text 6"/>
          <p:cNvSpPr txBox="1"/>
          <p:nvPr/>
        </p:nvSpPr>
        <p:spPr>
          <a:xfrm>
            <a:off x="658368" y="1316736"/>
            <a:ext cx="7863840" cy="320040"/>
          </a:xfrm>
          <a:prstGeom prst="rect">
            <a:avLst/>
          </a:prstGeom>
          <a:noFill/>
          <a:ln/>
        </p:spPr>
        <p:txBody>
          <a:bodyPr wrap="square" lIns="0" tIns="0" rIns="0" bIns="0" rtlCol="0" anchor="ctr"/>
          <a:lstStyle/>
          <a:p>
            <a:pPr indent="0" marL="0">
              <a:buNone/>
            </a:pPr>
            <a:r>
              <a:rPr lang="en-US" sz="1050" dirty="0">
                <a:solidFill>
                  <a:srgbClr val="D0E8FF"/>
                </a:solidFill>
                <a:latin typeface="Calibri" pitchFamily="34" charset="0"/>
                <a:ea typeface="Calibri" pitchFamily="34" charset="-122"/>
                <a:cs typeface="Calibri" pitchFamily="34" charset="-120"/>
              </a:rPr>
              <a:t>ParcelResolve manages Detect → Close. It does not replace tracking, warehouse, or payment systems.</a:t>
            </a:r>
            <a:endParaRPr lang="en-US" sz="1050" dirty="0"/>
          </a:p>
        </p:txBody>
      </p:sp>
      <p:sp>
        <p:nvSpPr>
          <p:cNvPr id="9" name="Shape 7"/>
          <p:cNvSpPr/>
          <p:nvPr/>
        </p:nvSpPr>
        <p:spPr>
          <a:xfrm>
            <a:off x="457200" y="1801368"/>
            <a:ext cx="8229600" cy="685800"/>
          </a:xfrm>
          <a:prstGeom prst="rect">
            <a:avLst/>
          </a:prstGeom>
          <a:solidFill>
            <a:srgbClr val="1E3F60"/>
          </a:solidFill>
          <a:ln/>
        </p:spPr>
      </p:sp>
      <p:sp>
        <p:nvSpPr>
          <p:cNvPr id="10" name="Shape 8"/>
          <p:cNvSpPr/>
          <p:nvPr/>
        </p:nvSpPr>
        <p:spPr>
          <a:xfrm>
            <a:off x="457200" y="1801368"/>
            <a:ext cx="73152" cy="685800"/>
          </a:xfrm>
          <a:prstGeom prst="rect">
            <a:avLst/>
          </a:prstGeom>
          <a:solidFill>
            <a:srgbClr val="F0A500"/>
          </a:solidFill>
          <a:ln/>
        </p:spPr>
      </p:sp>
      <p:sp>
        <p:nvSpPr>
          <p:cNvPr id="11" name="Text 9"/>
          <p:cNvSpPr txBox="1"/>
          <p:nvPr/>
        </p:nvSpPr>
        <p:spPr>
          <a:xfrm>
            <a:off x="658368" y="1856232"/>
            <a:ext cx="7863840" cy="228600"/>
          </a:xfrm>
          <a:prstGeom prst="rect">
            <a:avLst/>
          </a:prstGeom>
          <a:noFill/>
          <a:ln/>
        </p:spPr>
        <p:txBody>
          <a:bodyPr wrap="square" lIns="0" tIns="0" rIns="0" bIns="0" rtlCol="0" anchor="ctr"/>
          <a:lstStyle/>
          <a:p>
            <a:pPr indent="0" marL="0">
              <a:buNone/>
            </a:pPr>
            <a:r>
              <a:rPr lang="en-US" sz="1200" b="1" dirty="0">
                <a:solidFill>
                  <a:srgbClr val="F0A500"/>
                </a:solidFill>
                <a:latin typeface="Calibri" pitchFamily="34" charset="0"/>
                <a:ea typeface="Calibri" pitchFamily="34" charset="-122"/>
                <a:cs typeface="Calibri" pitchFamily="34" charset="-120"/>
              </a:rPr>
              <a:t>Automation is a means, not the goal</a:t>
            </a:r>
            <a:endParaRPr lang="en-US" sz="1200" dirty="0"/>
          </a:p>
        </p:txBody>
      </p:sp>
      <p:sp>
        <p:nvSpPr>
          <p:cNvPr id="12" name="Text 10"/>
          <p:cNvSpPr txBox="1"/>
          <p:nvPr/>
        </p:nvSpPr>
        <p:spPr>
          <a:xfrm>
            <a:off x="658368" y="2112264"/>
            <a:ext cx="7863840" cy="320040"/>
          </a:xfrm>
          <a:prstGeom prst="rect">
            <a:avLst/>
          </a:prstGeom>
          <a:noFill/>
          <a:ln/>
        </p:spPr>
        <p:txBody>
          <a:bodyPr wrap="square" lIns="0" tIns="0" rIns="0" bIns="0" rtlCol="0" anchor="ctr"/>
          <a:lstStyle/>
          <a:p>
            <a:pPr indent="0" marL="0">
              <a:buNone/>
            </a:pPr>
            <a:r>
              <a:rPr lang="en-US" sz="1050" dirty="0">
                <a:solidFill>
                  <a:srgbClr val="D0E8FF"/>
                </a:solidFill>
                <a:latin typeface="Calibri" pitchFamily="34" charset="0"/>
                <a:ea typeface="Calibri" pitchFamily="34" charset="-122"/>
                <a:cs typeface="Calibri" pitchFamily="34" charset="-120"/>
              </a:rPr>
              <a:t>The aim is to reduce unnecessary manual work — not automate everything. Human override and edge-case handling stay in scope.</a:t>
            </a:r>
            <a:endParaRPr lang="en-US" sz="1050" dirty="0"/>
          </a:p>
        </p:txBody>
      </p:sp>
      <p:sp>
        <p:nvSpPr>
          <p:cNvPr id="13" name="Shape 11"/>
          <p:cNvSpPr/>
          <p:nvPr/>
        </p:nvSpPr>
        <p:spPr>
          <a:xfrm>
            <a:off x="457200" y="2596896"/>
            <a:ext cx="8229600" cy="685800"/>
          </a:xfrm>
          <a:prstGeom prst="rect">
            <a:avLst/>
          </a:prstGeom>
          <a:solidFill>
            <a:srgbClr val="1E3F60"/>
          </a:solidFill>
          <a:ln/>
        </p:spPr>
      </p:sp>
      <p:sp>
        <p:nvSpPr>
          <p:cNvPr id="14" name="Shape 12"/>
          <p:cNvSpPr/>
          <p:nvPr/>
        </p:nvSpPr>
        <p:spPr>
          <a:xfrm>
            <a:off x="457200" y="2596896"/>
            <a:ext cx="73152" cy="685800"/>
          </a:xfrm>
          <a:prstGeom prst="rect">
            <a:avLst/>
          </a:prstGeom>
          <a:solidFill>
            <a:srgbClr val="F0A500"/>
          </a:solidFill>
          <a:ln/>
        </p:spPr>
      </p:sp>
      <p:sp>
        <p:nvSpPr>
          <p:cNvPr id="15" name="Text 13"/>
          <p:cNvSpPr txBox="1"/>
          <p:nvPr/>
        </p:nvSpPr>
        <p:spPr>
          <a:xfrm>
            <a:off x="658368" y="2651760"/>
            <a:ext cx="7863840" cy="228600"/>
          </a:xfrm>
          <a:prstGeom prst="rect">
            <a:avLst/>
          </a:prstGeom>
          <a:noFill/>
          <a:ln/>
        </p:spPr>
        <p:txBody>
          <a:bodyPr wrap="square" lIns="0" tIns="0" rIns="0" bIns="0" rtlCol="0" anchor="ctr"/>
          <a:lstStyle/>
          <a:p>
            <a:pPr indent="0" marL="0">
              <a:buNone/>
            </a:pPr>
            <a:r>
              <a:rPr lang="en-US" sz="1200" b="1" dirty="0">
                <a:solidFill>
                  <a:srgbClr val="F0A500"/>
                </a:solidFill>
                <a:latin typeface="Calibri" pitchFamily="34" charset="0"/>
                <a:ea typeface="Calibri" pitchFamily="34" charset="-122"/>
                <a:cs typeface="Calibri" pitchFamily="34" charset="-120"/>
              </a:rPr>
              <a:t>Speed vs. accuracy is a real tension</a:t>
            </a:r>
            <a:endParaRPr lang="en-US" sz="1200" dirty="0"/>
          </a:p>
        </p:txBody>
      </p:sp>
      <p:sp>
        <p:nvSpPr>
          <p:cNvPr id="16" name="Text 14"/>
          <p:cNvSpPr txBox="1"/>
          <p:nvPr/>
        </p:nvSpPr>
        <p:spPr>
          <a:xfrm>
            <a:off x="658368" y="2907792"/>
            <a:ext cx="7863840" cy="320040"/>
          </a:xfrm>
          <a:prstGeom prst="rect">
            <a:avLst/>
          </a:prstGeom>
          <a:noFill/>
          <a:ln/>
        </p:spPr>
        <p:txBody>
          <a:bodyPr wrap="square" lIns="0" tIns="0" rIns="0" bIns="0" rtlCol="0" anchor="ctr"/>
          <a:lstStyle/>
          <a:p>
            <a:pPr indent="0" marL="0">
              <a:buNone/>
            </a:pPr>
            <a:r>
              <a:rPr lang="en-US" sz="1050" dirty="0">
                <a:solidFill>
                  <a:srgbClr val="D0E8FF"/>
                </a:solidFill>
                <a:latin typeface="Calibri" pitchFamily="34" charset="0"/>
                <a:ea typeface="Calibri" pitchFamily="34" charset="-122"/>
                <a:cs typeface="Calibri" pitchFamily="34" charset="-120"/>
              </a:rPr>
              <a:t>Customers want immediate resolution; organizations need verification steps. These trade-offs are baked in by design.</a:t>
            </a:r>
            <a:endParaRPr lang="en-US" sz="1050" dirty="0"/>
          </a:p>
        </p:txBody>
      </p:sp>
      <p:sp>
        <p:nvSpPr>
          <p:cNvPr id="17" name="Shape 15"/>
          <p:cNvSpPr/>
          <p:nvPr/>
        </p:nvSpPr>
        <p:spPr>
          <a:xfrm>
            <a:off x="457200" y="3392424"/>
            <a:ext cx="8229600" cy="685800"/>
          </a:xfrm>
          <a:prstGeom prst="rect">
            <a:avLst/>
          </a:prstGeom>
          <a:solidFill>
            <a:srgbClr val="1E3F60"/>
          </a:solidFill>
          <a:ln/>
        </p:spPr>
      </p:sp>
      <p:sp>
        <p:nvSpPr>
          <p:cNvPr id="18" name="Shape 16"/>
          <p:cNvSpPr/>
          <p:nvPr/>
        </p:nvSpPr>
        <p:spPr>
          <a:xfrm>
            <a:off x="457200" y="3392424"/>
            <a:ext cx="73152" cy="685800"/>
          </a:xfrm>
          <a:prstGeom prst="rect">
            <a:avLst/>
          </a:prstGeom>
          <a:solidFill>
            <a:srgbClr val="F0A500"/>
          </a:solidFill>
          <a:ln/>
        </p:spPr>
      </p:sp>
      <p:sp>
        <p:nvSpPr>
          <p:cNvPr id="19" name="Text 17"/>
          <p:cNvSpPr txBox="1"/>
          <p:nvPr/>
        </p:nvSpPr>
        <p:spPr>
          <a:xfrm>
            <a:off x="658368" y="3447288"/>
            <a:ext cx="7863840" cy="228600"/>
          </a:xfrm>
          <a:prstGeom prst="rect">
            <a:avLst/>
          </a:prstGeom>
          <a:noFill/>
          <a:ln/>
        </p:spPr>
        <p:txBody>
          <a:bodyPr wrap="square" lIns="0" tIns="0" rIns="0" bIns="0" rtlCol="0" anchor="ctr"/>
          <a:lstStyle/>
          <a:p>
            <a:pPr indent="0" marL="0">
              <a:buNone/>
            </a:pPr>
            <a:r>
              <a:rPr lang="en-US" sz="1200" b="1" dirty="0">
                <a:solidFill>
                  <a:srgbClr val="F0A500"/>
                </a:solidFill>
                <a:latin typeface="Calibri" pitchFamily="34" charset="0"/>
                <a:ea typeface="Calibri" pitchFamily="34" charset="-122"/>
                <a:cs typeface="Calibri" pitchFamily="34" charset="-120"/>
              </a:rPr>
              <a:t>GDPR is an early concern</a:t>
            </a:r>
            <a:endParaRPr lang="en-US" sz="1200" dirty="0"/>
          </a:p>
        </p:txBody>
      </p:sp>
      <p:sp>
        <p:nvSpPr>
          <p:cNvPr id="20" name="Text 18"/>
          <p:cNvSpPr txBox="1"/>
          <p:nvPr/>
        </p:nvSpPr>
        <p:spPr>
          <a:xfrm>
            <a:off x="658368" y="3703320"/>
            <a:ext cx="7863840" cy="320040"/>
          </a:xfrm>
          <a:prstGeom prst="rect">
            <a:avLst/>
          </a:prstGeom>
          <a:noFill/>
          <a:ln/>
        </p:spPr>
        <p:txBody>
          <a:bodyPr wrap="square" lIns="0" tIns="0" rIns="0" bIns="0" rtlCol="0" anchor="ctr"/>
          <a:lstStyle/>
          <a:p>
            <a:pPr indent="0" marL="0">
              <a:buNone/>
            </a:pPr>
            <a:r>
              <a:rPr lang="en-US" sz="1050" dirty="0">
                <a:solidFill>
                  <a:srgbClr val="D0E8FF"/>
                </a:solidFill>
                <a:latin typeface="Calibri" pitchFamily="34" charset="0"/>
                <a:ea typeface="Calibri" pitchFamily="34" charset="-122"/>
                <a:cs typeface="Calibri" pitchFamily="34" charset="-120"/>
              </a:rPr>
              <a:t>The system handles personal data (names, addresses, delivery history). Data protection must be considered from requirements onwards.</a:t>
            </a:r>
            <a:endParaRPr lang="en-US" sz="1050" dirty="0"/>
          </a:p>
        </p:txBody>
      </p:sp>
      <p:sp>
        <p:nvSpPr>
          <p:cNvPr id="21" name="Shape 19"/>
          <p:cNvSpPr/>
          <p:nvPr/>
        </p:nvSpPr>
        <p:spPr>
          <a:xfrm>
            <a:off x="457200" y="4187952"/>
            <a:ext cx="8229600" cy="685800"/>
          </a:xfrm>
          <a:prstGeom prst="rect">
            <a:avLst/>
          </a:prstGeom>
          <a:solidFill>
            <a:srgbClr val="1E3F60"/>
          </a:solidFill>
          <a:ln/>
        </p:spPr>
      </p:sp>
      <p:sp>
        <p:nvSpPr>
          <p:cNvPr id="22" name="Shape 20"/>
          <p:cNvSpPr/>
          <p:nvPr/>
        </p:nvSpPr>
        <p:spPr>
          <a:xfrm>
            <a:off x="457200" y="4187952"/>
            <a:ext cx="73152" cy="685800"/>
          </a:xfrm>
          <a:prstGeom prst="rect">
            <a:avLst/>
          </a:prstGeom>
          <a:solidFill>
            <a:srgbClr val="F0A500"/>
          </a:solidFill>
          <a:ln/>
        </p:spPr>
      </p:sp>
      <p:sp>
        <p:nvSpPr>
          <p:cNvPr id="23" name="Text 21"/>
          <p:cNvSpPr txBox="1"/>
          <p:nvPr/>
        </p:nvSpPr>
        <p:spPr>
          <a:xfrm>
            <a:off x="658368" y="4242816"/>
            <a:ext cx="7863840" cy="228600"/>
          </a:xfrm>
          <a:prstGeom prst="rect">
            <a:avLst/>
          </a:prstGeom>
          <a:noFill/>
          <a:ln/>
        </p:spPr>
        <p:txBody>
          <a:bodyPr wrap="square" lIns="0" tIns="0" rIns="0" bIns="0" rtlCol="0" anchor="ctr"/>
          <a:lstStyle/>
          <a:p>
            <a:pPr indent="0" marL="0">
              <a:buNone/>
            </a:pPr>
            <a:r>
              <a:rPr lang="en-US" sz="1200" b="1" dirty="0">
                <a:solidFill>
                  <a:srgbClr val="F0A500"/>
                </a:solidFill>
                <a:latin typeface="Calibri" pitchFamily="34" charset="0"/>
                <a:ea typeface="Calibri" pitchFamily="34" charset="-122"/>
                <a:cs typeface="Calibri" pitchFamily="34" charset="-120"/>
              </a:rPr>
              <a:t>AI tool added real value</a:t>
            </a:r>
            <a:endParaRPr lang="en-US" sz="1200" dirty="0"/>
          </a:p>
        </p:txBody>
      </p:sp>
      <p:sp>
        <p:nvSpPr>
          <p:cNvPr id="24" name="Text 22"/>
          <p:cNvSpPr txBox="1"/>
          <p:nvPr/>
        </p:nvSpPr>
        <p:spPr>
          <a:xfrm>
            <a:off x="658368" y="4498848"/>
            <a:ext cx="7863840" cy="320040"/>
          </a:xfrm>
          <a:prstGeom prst="rect">
            <a:avLst/>
          </a:prstGeom>
          <a:noFill/>
          <a:ln/>
        </p:spPr>
        <p:txBody>
          <a:bodyPr wrap="square" lIns="0" tIns="0" rIns="0" bIns="0" rtlCol="0" anchor="ctr"/>
          <a:lstStyle/>
          <a:p>
            <a:pPr indent="0" marL="0">
              <a:buNone/>
            </a:pPr>
            <a:r>
              <a:rPr lang="en-US" sz="1050" dirty="0">
                <a:solidFill>
                  <a:srgbClr val="D0E8FF"/>
                </a:solidFill>
                <a:latin typeface="Calibri" pitchFamily="34" charset="0"/>
                <a:ea typeface="Calibri" pitchFamily="34" charset="-122"/>
                <a:cs typeface="Calibri" pitchFamily="34" charset="-120"/>
              </a:rPr>
              <a:t>3 of 6 suggestions were accepted or modified into the product — evidence capture and sender/recipient distinction were genuine gaps.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p:spPr>
      </p:sp>
      <p:sp>
        <p:nvSpPr>
          <p:cNvPr id="3" name="Text 1"/>
          <p:cNvSpPr txBox="1"/>
          <p:nvPr/>
        </p:nvSpPr>
        <p:spPr>
          <a:xfrm>
            <a:off x="457200" y="228600"/>
            <a:ext cx="8229600" cy="502920"/>
          </a:xfrm>
          <a:prstGeom prst="rect">
            <a:avLst/>
          </a:prstGeom>
          <a:noFill/>
          <a:ln/>
        </p:spPr>
        <p:txBody>
          <a:bodyPr wrap="square"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Presentation Disclosure</a:t>
            </a:r>
            <a:endParaRPr lang="en-US" sz="2600" dirty="0"/>
          </a:p>
        </p:txBody>
      </p:sp>
      <p:sp>
        <p:nvSpPr>
          <p:cNvPr id="4" name="Shape 2"/>
          <p:cNvSpPr/>
          <p:nvPr/>
        </p:nvSpPr>
        <p:spPr>
          <a:xfrm>
            <a:off x="457200" y="804672"/>
            <a:ext cx="8229600" cy="36576"/>
          </a:xfrm>
          <a:prstGeom prst="rect">
            <a:avLst/>
          </a:prstGeom>
          <a:solidFill>
            <a:srgbClr val="D0DCE8"/>
          </a:solidFill>
          <a:ln/>
        </p:spPr>
      </p:sp>
      <p:sp>
        <p:nvSpPr>
          <p:cNvPr id="5" name="Shape 3"/>
          <p:cNvSpPr/>
          <p:nvPr/>
        </p:nvSpPr>
        <p:spPr>
          <a:xfrm>
            <a:off x="457200" y="1005840"/>
            <a:ext cx="8229600" cy="1051560"/>
          </a:xfrm>
          <a:prstGeom prst="rect">
            <a:avLst/>
          </a:prstGeom>
          <a:solidFill>
            <a:srgbClr val="1A3A5C"/>
          </a:solidFill>
          <a:ln/>
        </p:spPr>
      </p:sp>
      <p:sp>
        <p:nvSpPr>
          <p:cNvPr id="6" name="Shape 4"/>
          <p:cNvSpPr/>
          <p:nvPr/>
        </p:nvSpPr>
        <p:spPr>
          <a:xfrm>
            <a:off x="457200" y="1005840"/>
            <a:ext cx="91440" cy="1051560"/>
          </a:xfrm>
          <a:prstGeom prst="rect">
            <a:avLst/>
          </a:prstGeom>
          <a:solidFill>
            <a:srgbClr val="F0A500"/>
          </a:solidFill>
          <a:ln/>
        </p:spPr>
      </p:sp>
      <p:sp>
        <p:nvSpPr>
          <p:cNvPr id="7" name="Text 5"/>
          <p:cNvSpPr txBox="1"/>
          <p:nvPr/>
        </p:nvSpPr>
        <p:spPr>
          <a:xfrm>
            <a:off x="685800" y="1078992"/>
            <a:ext cx="7772400"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This presentation was created with the assistance of Claude (claude.ai), an AI assistant developed by Anthropic. The slide structure, layout, and visual design were generated using AI tooling based on the written content produced by the group.</a:t>
            </a:r>
            <a:endParaRPr lang="en-US" sz="1300" dirty="0"/>
          </a:p>
        </p:txBody>
      </p:sp>
      <p:sp>
        <p:nvSpPr>
          <p:cNvPr id="8" name="Shape 6"/>
          <p:cNvSpPr/>
          <p:nvPr/>
        </p:nvSpPr>
        <p:spPr>
          <a:xfrm>
            <a:off x="457200" y="2240280"/>
            <a:ext cx="4023360" cy="347472"/>
          </a:xfrm>
          <a:prstGeom prst="rect">
            <a:avLst/>
          </a:prstGeom>
          <a:solidFill>
            <a:srgbClr val="2E6DA4"/>
          </a:solidFill>
          <a:ln/>
        </p:spPr>
      </p:sp>
      <p:sp>
        <p:nvSpPr>
          <p:cNvPr id="9" name="Text 7"/>
          <p:cNvSpPr txBox="1"/>
          <p:nvPr/>
        </p:nvSpPr>
        <p:spPr>
          <a:xfrm>
            <a:off x="566928" y="2240280"/>
            <a:ext cx="3803904"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was responsible for</a:t>
            </a:r>
            <a:endParaRPr lang="en-US" sz="1200" dirty="0"/>
          </a:p>
        </p:txBody>
      </p:sp>
      <p:sp>
        <p:nvSpPr>
          <p:cNvPr id="10" name="Shape 8"/>
          <p:cNvSpPr/>
          <p:nvPr/>
        </p:nvSpPr>
        <p:spPr>
          <a:xfrm>
            <a:off x="457200" y="2651760"/>
            <a:ext cx="4023360" cy="402336"/>
          </a:xfrm>
          <a:prstGeom prst="rect">
            <a:avLst/>
          </a:prstGeom>
          <a:solidFill>
            <a:srgbClr val="EAF2FB"/>
          </a:solidFill>
          <a:ln w="12700">
            <a:solidFill>
              <a:srgbClr val="D0DCE8"/>
            </a:solidFill>
            <a:prstDash val="solid"/>
          </a:ln>
        </p:spPr>
      </p:sp>
      <p:sp>
        <p:nvSpPr>
          <p:cNvPr id="11" name="Shape 9"/>
          <p:cNvSpPr/>
          <p:nvPr/>
        </p:nvSpPr>
        <p:spPr>
          <a:xfrm>
            <a:off x="585216" y="2779776"/>
            <a:ext cx="146304" cy="146304"/>
          </a:xfrm>
          <a:prstGeom prst="ellipse">
            <a:avLst/>
          </a:prstGeom>
          <a:solidFill>
            <a:srgbClr val="2E6DA4"/>
          </a:solidFill>
          <a:ln/>
        </p:spPr>
      </p:sp>
      <p:sp>
        <p:nvSpPr>
          <p:cNvPr id="12" name="Text 10"/>
          <p:cNvSpPr txBox="1"/>
          <p:nvPr/>
        </p:nvSpPr>
        <p:spPr>
          <a:xfrm>
            <a:off x="804672" y="2688336"/>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Slide structure and layout</a:t>
            </a:r>
            <a:endParaRPr lang="en-US" sz="1100" dirty="0"/>
          </a:p>
        </p:txBody>
      </p:sp>
      <p:sp>
        <p:nvSpPr>
          <p:cNvPr id="13" name="Shape 11"/>
          <p:cNvSpPr/>
          <p:nvPr/>
        </p:nvSpPr>
        <p:spPr>
          <a:xfrm>
            <a:off x="457200" y="3127248"/>
            <a:ext cx="4023360" cy="402336"/>
          </a:xfrm>
          <a:prstGeom prst="rect">
            <a:avLst/>
          </a:prstGeom>
          <a:solidFill>
            <a:srgbClr val="EAF2FB"/>
          </a:solidFill>
          <a:ln w="12700">
            <a:solidFill>
              <a:srgbClr val="D0DCE8"/>
            </a:solidFill>
            <a:prstDash val="solid"/>
          </a:ln>
        </p:spPr>
      </p:sp>
      <p:sp>
        <p:nvSpPr>
          <p:cNvPr id="14" name="Shape 12"/>
          <p:cNvSpPr/>
          <p:nvPr/>
        </p:nvSpPr>
        <p:spPr>
          <a:xfrm>
            <a:off x="585216" y="3255264"/>
            <a:ext cx="146304" cy="146304"/>
          </a:xfrm>
          <a:prstGeom prst="ellipse">
            <a:avLst/>
          </a:prstGeom>
          <a:solidFill>
            <a:srgbClr val="2E6DA4"/>
          </a:solidFill>
          <a:ln/>
        </p:spPr>
      </p:sp>
      <p:sp>
        <p:nvSpPr>
          <p:cNvPr id="15" name="Text 13"/>
          <p:cNvSpPr txBox="1"/>
          <p:nvPr/>
        </p:nvSpPr>
        <p:spPr>
          <a:xfrm>
            <a:off x="804672" y="3163824"/>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Visual design and colour scheme</a:t>
            </a:r>
            <a:endParaRPr lang="en-US" sz="1100" dirty="0"/>
          </a:p>
        </p:txBody>
      </p:sp>
      <p:sp>
        <p:nvSpPr>
          <p:cNvPr id="16" name="Shape 14"/>
          <p:cNvSpPr/>
          <p:nvPr/>
        </p:nvSpPr>
        <p:spPr>
          <a:xfrm>
            <a:off x="457200" y="3602736"/>
            <a:ext cx="4023360" cy="402336"/>
          </a:xfrm>
          <a:prstGeom prst="rect">
            <a:avLst/>
          </a:prstGeom>
          <a:solidFill>
            <a:srgbClr val="EAF2FB"/>
          </a:solidFill>
          <a:ln w="12700">
            <a:solidFill>
              <a:srgbClr val="D0DCE8"/>
            </a:solidFill>
            <a:prstDash val="solid"/>
          </a:ln>
        </p:spPr>
      </p:sp>
      <p:sp>
        <p:nvSpPr>
          <p:cNvPr id="17" name="Shape 15"/>
          <p:cNvSpPr/>
          <p:nvPr/>
        </p:nvSpPr>
        <p:spPr>
          <a:xfrm>
            <a:off x="585216" y="3730752"/>
            <a:ext cx="146304" cy="146304"/>
          </a:xfrm>
          <a:prstGeom prst="ellipse">
            <a:avLst/>
          </a:prstGeom>
          <a:solidFill>
            <a:srgbClr val="2E6DA4"/>
          </a:solidFill>
          <a:ln/>
        </p:spPr>
      </p:sp>
      <p:sp>
        <p:nvSpPr>
          <p:cNvPr id="18" name="Text 16"/>
          <p:cNvSpPr txBox="1"/>
          <p:nvPr/>
        </p:nvSpPr>
        <p:spPr>
          <a:xfrm>
            <a:off x="804672" y="3639312"/>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Summarising content into slide format</a:t>
            </a:r>
            <a:endParaRPr lang="en-US" sz="1100" dirty="0"/>
          </a:p>
        </p:txBody>
      </p:sp>
      <p:sp>
        <p:nvSpPr>
          <p:cNvPr id="19" name="Shape 17"/>
          <p:cNvSpPr/>
          <p:nvPr/>
        </p:nvSpPr>
        <p:spPr>
          <a:xfrm>
            <a:off x="457200" y="4078224"/>
            <a:ext cx="4023360" cy="402336"/>
          </a:xfrm>
          <a:prstGeom prst="rect">
            <a:avLst/>
          </a:prstGeom>
          <a:solidFill>
            <a:srgbClr val="EAF2FB"/>
          </a:solidFill>
          <a:ln w="12700">
            <a:solidFill>
              <a:srgbClr val="D0DCE8"/>
            </a:solidFill>
            <a:prstDash val="solid"/>
          </a:ln>
        </p:spPr>
      </p:sp>
      <p:sp>
        <p:nvSpPr>
          <p:cNvPr id="20" name="Shape 18"/>
          <p:cNvSpPr/>
          <p:nvPr/>
        </p:nvSpPr>
        <p:spPr>
          <a:xfrm>
            <a:off x="585216" y="4206240"/>
            <a:ext cx="146304" cy="146304"/>
          </a:xfrm>
          <a:prstGeom prst="ellipse">
            <a:avLst/>
          </a:prstGeom>
          <a:solidFill>
            <a:srgbClr val="2E6DA4"/>
          </a:solidFill>
          <a:ln/>
        </p:spPr>
      </p:sp>
      <p:sp>
        <p:nvSpPr>
          <p:cNvPr id="21" name="Text 19"/>
          <p:cNvSpPr txBox="1"/>
          <p:nvPr/>
        </p:nvSpPr>
        <p:spPr>
          <a:xfrm>
            <a:off x="804672" y="4114800"/>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Diagram design (lifecycle, stakeholder map)</a:t>
            </a:r>
            <a:endParaRPr lang="en-US" sz="1100" dirty="0"/>
          </a:p>
        </p:txBody>
      </p:sp>
      <p:sp>
        <p:nvSpPr>
          <p:cNvPr id="22" name="Shape 20"/>
          <p:cNvSpPr/>
          <p:nvPr/>
        </p:nvSpPr>
        <p:spPr>
          <a:xfrm>
            <a:off x="4800600" y="2240280"/>
            <a:ext cx="4023360" cy="347472"/>
          </a:xfrm>
          <a:prstGeom prst="rect">
            <a:avLst/>
          </a:prstGeom>
          <a:solidFill>
            <a:srgbClr val="2E7D32"/>
          </a:solidFill>
          <a:ln/>
        </p:spPr>
      </p:sp>
      <p:sp>
        <p:nvSpPr>
          <p:cNvPr id="23" name="Text 21"/>
          <p:cNvSpPr txBox="1"/>
          <p:nvPr/>
        </p:nvSpPr>
        <p:spPr>
          <a:xfrm>
            <a:off x="4910328" y="2240280"/>
            <a:ext cx="3803904"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was NOT responsible for</a:t>
            </a:r>
            <a:endParaRPr lang="en-US" sz="1200" dirty="0"/>
          </a:p>
        </p:txBody>
      </p:sp>
      <p:sp>
        <p:nvSpPr>
          <p:cNvPr id="24" name="Shape 22"/>
          <p:cNvSpPr/>
          <p:nvPr/>
        </p:nvSpPr>
        <p:spPr>
          <a:xfrm>
            <a:off x="4800600" y="2651760"/>
            <a:ext cx="4023360" cy="402336"/>
          </a:xfrm>
          <a:prstGeom prst="rect">
            <a:avLst/>
          </a:prstGeom>
          <a:solidFill>
            <a:srgbClr val="E8F5E9"/>
          </a:solidFill>
          <a:ln w="12700">
            <a:solidFill>
              <a:srgbClr val="D0DCE8"/>
            </a:solidFill>
            <a:prstDash val="solid"/>
          </a:ln>
        </p:spPr>
      </p:sp>
      <p:sp>
        <p:nvSpPr>
          <p:cNvPr id="25" name="Shape 23"/>
          <p:cNvSpPr/>
          <p:nvPr/>
        </p:nvSpPr>
        <p:spPr>
          <a:xfrm>
            <a:off x="4928616" y="2779776"/>
            <a:ext cx="146304" cy="146304"/>
          </a:xfrm>
          <a:prstGeom prst="ellipse">
            <a:avLst/>
          </a:prstGeom>
          <a:solidFill>
            <a:srgbClr val="2E7D32"/>
          </a:solidFill>
          <a:ln/>
        </p:spPr>
      </p:sp>
      <p:sp>
        <p:nvSpPr>
          <p:cNvPr id="26" name="Text 24"/>
          <p:cNvSpPr txBox="1"/>
          <p:nvPr/>
        </p:nvSpPr>
        <p:spPr>
          <a:xfrm>
            <a:off x="5148072" y="2688336"/>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The written assignment content</a:t>
            </a:r>
            <a:endParaRPr lang="en-US" sz="1100" dirty="0"/>
          </a:p>
        </p:txBody>
      </p:sp>
      <p:sp>
        <p:nvSpPr>
          <p:cNvPr id="27" name="Shape 25"/>
          <p:cNvSpPr/>
          <p:nvPr/>
        </p:nvSpPr>
        <p:spPr>
          <a:xfrm>
            <a:off x="4800600" y="3127248"/>
            <a:ext cx="4023360" cy="402336"/>
          </a:xfrm>
          <a:prstGeom prst="rect">
            <a:avLst/>
          </a:prstGeom>
          <a:solidFill>
            <a:srgbClr val="E8F5E9"/>
          </a:solidFill>
          <a:ln w="12700">
            <a:solidFill>
              <a:srgbClr val="D0DCE8"/>
            </a:solidFill>
            <a:prstDash val="solid"/>
          </a:ln>
        </p:spPr>
      </p:sp>
      <p:sp>
        <p:nvSpPr>
          <p:cNvPr id="28" name="Shape 26"/>
          <p:cNvSpPr/>
          <p:nvPr/>
        </p:nvSpPr>
        <p:spPr>
          <a:xfrm>
            <a:off x="4928616" y="3255264"/>
            <a:ext cx="146304" cy="146304"/>
          </a:xfrm>
          <a:prstGeom prst="ellipse">
            <a:avLst/>
          </a:prstGeom>
          <a:solidFill>
            <a:srgbClr val="2E7D32"/>
          </a:solidFill>
          <a:ln/>
        </p:spPr>
      </p:sp>
      <p:sp>
        <p:nvSpPr>
          <p:cNvPr id="29" name="Text 27"/>
          <p:cNvSpPr txBox="1"/>
          <p:nvPr/>
        </p:nvSpPr>
        <p:spPr>
          <a:xfrm>
            <a:off x="5148072" y="3163824"/>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Product vision and scope decisions</a:t>
            </a:r>
            <a:endParaRPr lang="en-US" sz="1100" dirty="0"/>
          </a:p>
        </p:txBody>
      </p:sp>
      <p:sp>
        <p:nvSpPr>
          <p:cNvPr id="30" name="Shape 28"/>
          <p:cNvSpPr/>
          <p:nvPr/>
        </p:nvSpPr>
        <p:spPr>
          <a:xfrm>
            <a:off x="4800600" y="3602736"/>
            <a:ext cx="4023360" cy="402336"/>
          </a:xfrm>
          <a:prstGeom prst="rect">
            <a:avLst/>
          </a:prstGeom>
          <a:solidFill>
            <a:srgbClr val="E8F5E9"/>
          </a:solidFill>
          <a:ln w="12700">
            <a:solidFill>
              <a:srgbClr val="D0DCE8"/>
            </a:solidFill>
            <a:prstDash val="solid"/>
          </a:ln>
        </p:spPr>
      </p:sp>
      <p:sp>
        <p:nvSpPr>
          <p:cNvPr id="31" name="Shape 29"/>
          <p:cNvSpPr/>
          <p:nvPr/>
        </p:nvSpPr>
        <p:spPr>
          <a:xfrm>
            <a:off x="4928616" y="3730752"/>
            <a:ext cx="146304" cy="146304"/>
          </a:xfrm>
          <a:prstGeom prst="ellipse">
            <a:avLst/>
          </a:prstGeom>
          <a:solidFill>
            <a:srgbClr val="2E7D32"/>
          </a:solidFill>
          <a:ln/>
        </p:spPr>
      </p:sp>
      <p:sp>
        <p:nvSpPr>
          <p:cNvPr id="32" name="Text 30"/>
          <p:cNvSpPr txBox="1"/>
          <p:nvPr/>
        </p:nvSpPr>
        <p:spPr>
          <a:xfrm>
            <a:off x="5148072" y="3639312"/>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Stakeholder analysis and judgements</a:t>
            </a:r>
            <a:endParaRPr lang="en-US" sz="1100" dirty="0"/>
          </a:p>
        </p:txBody>
      </p:sp>
      <p:sp>
        <p:nvSpPr>
          <p:cNvPr id="33" name="Shape 31"/>
          <p:cNvSpPr/>
          <p:nvPr/>
        </p:nvSpPr>
        <p:spPr>
          <a:xfrm>
            <a:off x="4800600" y="4078224"/>
            <a:ext cx="4023360" cy="402336"/>
          </a:xfrm>
          <a:prstGeom prst="rect">
            <a:avLst/>
          </a:prstGeom>
          <a:solidFill>
            <a:srgbClr val="E8F5E9"/>
          </a:solidFill>
          <a:ln w="12700">
            <a:solidFill>
              <a:srgbClr val="D0DCE8"/>
            </a:solidFill>
            <a:prstDash val="solid"/>
          </a:ln>
        </p:spPr>
      </p:sp>
      <p:sp>
        <p:nvSpPr>
          <p:cNvPr id="34" name="Shape 32"/>
          <p:cNvSpPr/>
          <p:nvPr/>
        </p:nvSpPr>
        <p:spPr>
          <a:xfrm>
            <a:off x="4928616" y="4206240"/>
            <a:ext cx="146304" cy="146304"/>
          </a:xfrm>
          <a:prstGeom prst="ellipse">
            <a:avLst/>
          </a:prstGeom>
          <a:solidFill>
            <a:srgbClr val="2E7D32"/>
          </a:solidFill>
          <a:ln/>
        </p:spPr>
      </p:sp>
      <p:sp>
        <p:nvSpPr>
          <p:cNvPr id="35" name="Text 33"/>
          <p:cNvSpPr txBox="1"/>
          <p:nvPr/>
        </p:nvSpPr>
        <p:spPr>
          <a:xfrm>
            <a:off x="5148072" y="4114800"/>
            <a:ext cx="3566160" cy="338328"/>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Accept / Modify / Defer / Reject decisions</a:t>
            </a:r>
            <a:endParaRPr lang="en-US" sz="1100" dirty="0"/>
          </a:p>
        </p:txBody>
      </p:sp>
      <p:sp>
        <p:nvSpPr>
          <p:cNvPr id="36" name="Shape 34"/>
          <p:cNvSpPr/>
          <p:nvPr/>
        </p:nvSpPr>
        <p:spPr>
          <a:xfrm>
            <a:off x="457200" y="4572000"/>
            <a:ext cx="8229600" cy="384048"/>
          </a:xfrm>
          <a:prstGeom prst="rect">
            <a:avLst/>
          </a:prstGeom>
          <a:solidFill>
            <a:srgbClr val="FFF8E6"/>
          </a:solidFill>
          <a:ln w="12700">
            <a:solidFill>
              <a:srgbClr val="F0A500"/>
            </a:solidFill>
            <a:prstDash val="solid"/>
          </a:ln>
        </p:spPr>
      </p:sp>
      <p:sp>
        <p:nvSpPr>
          <p:cNvPr id="37" name="Text 35"/>
          <p:cNvSpPr txBox="1"/>
          <p:nvPr/>
        </p:nvSpPr>
        <p:spPr>
          <a:xfrm>
            <a:off x="594360" y="4599432"/>
            <a:ext cx="7955280" cy="329184"/>
          </a:xfrm>
          <a:prstGeom prst="rect">
            <a:avLst/>
          </a:prstGeom>
          <a:noFill/>
          <a:ln/>
        </p:spPr>
        <p:txBody>
          <a:bodyPr wrap="square" lIns="0" tIns="0" rIns="0" bIns="0" rtlCol="0" anchor="ctr"/>
          <a:lstStyle/>
          <a:p>
            <a:pPr indent="0" marL="0">
              <a:buNone/>
            </a:pPr>
            <a:r>
              <a:rPr lang="en-US" sz="1050" i="1" dirty="0">
                <a:solidFill>
                  <a:srgbClr val="1A1A2E"/>
                </a:solidFill>
                <a:latin typeface="Calibri" pitchFamily="34" charset="0"/>
                <a:ea typeface="Calibri" pitchFamily="34" charset="-122"/>
                <a:cs typeface="Calibri" pitchFamily="34" charset="-120"/>
              </a:rPr>
              <a:t>All intellectual content — the product definition, analysis, and decisions — originates from the group and is the group's own work.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2026-09-16T19:17:54Z</dcterms:created>
  <dcterms:modified xsi:type="dcterms:W3CDTF">2026-09-16T19:17:54Z</dcterms:modified>
</cp:coreProperties>
</file>